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105156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A365D"/>
                </a:solidFill>
                <a:latin typeface="Arial"/>
              </a:rPr>
              <a:t>Affordance-Grasp Conditioned</a:t>
            </a:r>
          </a:p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A365D"/>
                </a:solidFill>
                <a:latin typeface="Arial"/>
              </a:rPr>
              <a:t>Spill-Free Trajectory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41248" y="3794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 i="0">
                <a:solidFill>
                  <a:srgbClr val="2C3E50"/>
                </a:solidFill>
                <a:latin typeface="Arial"/>
              </a:rPr>
              <a:t>Does </a:t>
            </a:r>
            <a:r>
              <a:rPr sz="2000" b="1" i="0">
                <a:solidFill>
                  <a:srgbClr val="1A365D"/>
                </a:solidFill>
                <a:latin typeface="Arial"/>
              </a:rPr>
              <a:t>how you grasp</a:t>
            </a:r>
            <a:r>
              <a:rPr sz="2000" b="0" i="0">
                <a:solidFill>
                  <a:srgbClr val="2C3E50"/>
                </a:solidFill>
                <a:latin typeface="Arial"/>
              </a:rPr>
              <a:t> a cup change </a:t>
            </a:r>
            <a:r>
              <a:rPr sz="2000" b="1" i="0">
                <a:solidFill>
                  <a:srgbClr val="1A365D"/>
                </a:solidFill>
                <a:latin typeface="Arial"/>
              </a:rPr>
              <a:t>how safely you can carry</a:t>
            </a:r>
            <a:r>
              <a:rPr sz="2000" b="0" i="0">
                <a:solidFill>
                  <a:srgbClr val="2C3E50"/>
                </a:solidFill>
                <a:latin typeface="Arial"/>
              </a:rPr>
              <a:t> 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45720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0" i="0">
                <a:solidFill>
                  <a:srgbClr val="666666"/>
                </a:solidFill>
                <a:latin typeface="Arial"/>
              </a:rPr>
              <a:t>Jihoon Yun   ·   Motion Planning   ·   2026-06-08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365D"/>
                </a:solidFill>
                <a:latin typeface="Arial"/>
              </a:rPr>
              <a:t>My thesis picks the grasp — this project plans the carry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064240" cy="279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1417320"/>
            <a:ext cx="6446520" cy="438912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903720" y="1417320"/>
            <a:ext cx="4983480" cy="4389120"/>
          </a:xfrm>
          <a:prstGeom prst="roundRect">
            <a:avLst/>
          </a:prstGeom>
          <a:solidFill>
            <a:srgbClr val="FDF0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17904"/>
            <a:ext cx="62179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 i="0">
                <a:solidFill>
                  <a:srgbClr val="1A365D"/>
                </a:solidFill>
                <a:latin typeface="Arial"/>
              </a:rPr>
              <a:t>MY THESIS</a:t>
            </a:r>
            <a:r>
              <a:rPr sz="1250" b="0" i="0">
                <a:solidFill>
                  <a:srgbClr val="1A365D"/>
                </a:solidFill>
                <a:latin typeface="Arial"/>
              </a:rPr>
              <a:t>  ·  Affordance &amp; taxonomy-aware grasp pose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517904"/>
            <a:ext cx="48920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A93226"/>
                </a:solidFill>
                <a:latin typeface="Arial"/>
              </a:rPr>
              <a:t>THIS PROJECT  ·  spill-free carry (motion planning)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423160"/>
            <a:ext cx="15544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6F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2C3E50"/>
                </a:solidFill>
                <a:latin typeface="Arial"/>
              </a:rPr>
              <a:t>object</a:t>
            </a:r>
          </a:p>
          <a:p>
            <a:pPr algn="ctr"/>
            <a:r>
              <a:rPr sz="1100" b="0">
                <a:solidFill>
                  <a:srgbClr val="2C3E50"/>
                </a:solidFill>
                <a:latin typeface="Arial"/>
              </a:rPr>
              <a:t>mesh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429000"/>
            <a:ext cx="1920240" cy="1051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6F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2C3E50"/>
                </a:solidFill>
                <a:latin typeface="Arial"/>
              </a:rPr>
              <a:t>task (language)</a:t>
            </a:r>
          </a:p>
          <a:p>
            <a:pPr algn="ctr"/>
            <a:r>
              <a:rPr sz="1000" b="0">
                <a:solidFill>
                  <a:srgbClr val="2C3E50"/>
                </a:solidFill>
                <a:latin typeface="Arial"/>
              </a:rPr>
              <a:t>"pour" / "drink" / "hand over"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697480" y="2743200"/>
            <a:ext cx="1417320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6F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2C3E50"/>
                </a:solidFill>
                <a:latin typeface="Arial"/>
              </a:rPr>
              <a:t>Grasp</a:t>
            </a:r>
          </a:p>
          <a:p>
            <a:pPr algn="ctr"/>
            <a:r>
              <a:rPr sz="1250" b="1">
                <a:solidFill>
                  <a:srgbClr val="2C3E50"/>
                </a:solidFill>
                <a:latin typeface="Arial"/>
              </a:rPr>
              <a:t>generation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075688" y="2697480"/>
            <a:ext cx="603504" cy="411480"/>
          </a:xfrm>
          <a:prstGeom prst="line">
            <a:avLst/>
          </a:prstGeom>
          <a:ln w="22225">
            <a:solidFill>
              <a:srgbClr val="8888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441448" y="3520440"/>
            <a:ext cx="237744" cy="228599"/>
          </a:xfrm>
          <a:prstGeom prst="line">
            <a:avLst/>
          </a:prstGeom>
          <a:ln w="22225">
            <a:solidFill>
              <a:srgbClr val="8888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grasp_drinking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702147"/>
            <a:ext cx="1325880" cy="1076264"/>
          </a:xfrm>
          <a:prstGeom prst="rect">
            <a:avLst/>
          </a:prstGeom>
        </p:spPr>
      </p:pic>
      <p:cxnSp>
        <p:nvCxnSpPr>
          <p:cNvPr id="14" name="Connector 13"/>
          <p:cNvCxnSpPr/>
          <p:nvPr/>
        </p:nvCxnSpPr>
        <p:spPr>
          <a:xfrm flipV="1">
            <a:off x="4160520" y="2240280"/>
            <a:ext cx="347472" cy="1097280"/>
          </a:xfrm>
          <a:prstGeom prst="line">
            <a:avLst/>
          </a:prstGeom>
          <a:ln w="17780">
            <a:solidFill>
              <a:srgbClr val="278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897880" y="205740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7865A"/>
                </a:solidFill>
                <a:latin typeface="Arial"/>
              </a:rPr>
              <a:t>drink</a:t>
            </a:r>
          </a:p>
        </p:txBody>
      </p:sp>
      <p:pic>
        <p:nvPicPr>
          <p:cNvPr id="16" name="Picture 15" descr="grasp_pouring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863967"/>
            <a:ext cx="1325880" cy="1312944"/>
          </a:xfrm>
          <a:prstGeom prst="rect">
            <a:avLst/>
          </a:prstGeom>
        </p:spPr>
      </p:pic>
      <p:cxnSp>
        <p:nvCxnSpPr>
          <p:cNvPr id="17" name="Connector 16"/>
          <p:cNvCxnSpPr/>
          <p:nvPr/>
        </p:nvCxnSpPr>
        <p:spPr>
          <a:xfrm>
            <a:off x="4160520" y="3337560"/>
            <a:ext cx="347472" cy="182880"/>
          </a:xfrm>
          <a:prstGeom prst="line">
            <a:avLst/>
          </a:prstGeom>
          <a:ln w="17780">
            <a:solidFill>
              <a:srgbClr val="2C6F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897880" y="333756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2C6FBB"/>
                </a:solidFill>
                <a:latin typeface="Arial"/>
              </a:rPr>
              <a:t>pour</a:t>
            </a:r>
          </a:p>
        </p:txBody>
      </p:sp>
      <p:pic>
        <p:nvPicPr>
          <p:cNvPr id="19" name="Picture 18" descr="grasp_handover_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4218704"/>
            <a:ext cx="1325880" cy="1163791"/>
          </a:xfrm>
          <a:prstGeom prst="rect">
            <a:avLst/>
          </a:prstGeom>
        </p:spPr>
      </p:pic>
      <p:cxnSp>
        <p:nvCxnSpPr>
          <p:cNvPr id="20" name="Connector 19"/>
          <p:cNvCxnSpPr/>
          <p:nvPr/>
        </p:nvCxnSpPr>
        <p:spPr>
          <a:xfrm>
            <a:off x="4160520" y="3337560"/>
            <a:ext cx="347472" cy="1463040"/>
          </a:xfrm>
          <a:prstGeom prst="line">
            <a:avLst/>
          </a:prstGeom>
          <a:ln w="17780">
            <a:solidFill>
              <a:srgbClr val="8E44A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897880" y="4617720"/>
            <a:ext cx="9144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8E44AD"/>
                </a:solidFill>
                <a:latin typeface="Arial"/>
              </a:rPr>
              <a:t>hand-over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5532120"/>
            <a:ext cx="3566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00" b="0" i="1">
                <a:solidFill>
                  <a:srgbClr val="2C3E50"/>
                </a:solidFill>
                <a:latin typeface="Arial"/>
              </a:rPr>
              <a:t>same mug, task → different grasp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5989320" y="2697480"/>
            <a:ext cx="1097280" cy="548640"/>
          </a:xfrm>
          <a:prstGeom prst="line">
            <a:avLst/>
          </a:prstGeom>
          <a:ln w="31750">
            <a:solidFill>
              <a:srgbClr val="1A36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89320" y="260604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1" i="0">
                <a:solidFill>
                  <a:srgbClr val="1A365D"/>
                </a:solidFill>
                <a:latin typeface="Arial"/>
              </a:rPr>
              <a:t>a grasp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240280"/>
            <a:ext cx="4526280" cy="640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A932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2C3E50"/>
                </a:solidFill>
                <a:latin typeface="Arial"/>
              </a:rPr>
              <a:t>inputs:  grasp pose  +  start &amp; goal EE poses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390888" y="2880360"/>
            <a:ext cx="0" cy="301752"/>
          </a:xfrm>
          <a:prstGeom prst="line">
            <a:avLst/>
          </a:prstGeom>
          <a:ln w="22225">
            <a:solidFill>
              <a:srgbClr val="8888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543800" y="3200400"/>
            <a:ext cx="3703320" cy="868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2C3E50"/>
                </a:solidFill>
                <a:latin typeface="Arial"/>
              </a:rPr>
              <a:t>Spill-free trajectory optimization</a:t>
            </a:r>
          </a:p>
          <a:p>
            <a:pPr algn="ctr"/>
            <a:r>
              <a:rPr sz="1100" b="0">
                <a:solidFill>
                  <a:srgbClr val="2C3E50"/>
                </a:solidFill>
                <a:latin typeface="Arial"/>
              </a:rPr>
              <a:t>(CHOMP + spill cost — ours)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90888" y="4069080"/>
            <a:ext cx="0" cy="301752"/>
          </a:xfrm>
          <a:prstGeom prst="line">
            <a:avLst/>
          </a:prstGeom>
          <a:ln w="22225">
            <a:solidFill>
              <a:srgbClr val="8888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092440" y="5316928"/>
            <a:ext cx="162877" cy="169472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255317" y="5153970"/>
            <a:ext cx="162877" cy="162958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18194" y="5003787"/>
            <a:ext cx="162878" cy="150183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81072" y="4872150"/>
            <a:ext cx="162878" cy="131637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743950" y="4764118"/>
            <a:ext cx="162877" cy="108032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906827" y="4683844"/>
            <a:ext cx="162878" cy="80274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9069705" y="4634411"/>
            <a:ext cx="162877" cy="49433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9232582" y="4617720"/>
            <a:ext cx="162877" cy="16691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395459" y="4617720"/>
            <a:ext cx="162878" cy="16691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558337" y="4634411"/>
            <a:ext cx="162878" cy="49433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721215" y="4683844"/>
            <a:ext cx="162877" cy="80274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9884092" y="4764118"/>
            <a:ext cx="162877" cy="108032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0046969" y="4872150"/>
            <a:ext cx="162878" cy="131637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0209847" y="5003787"/>
            <a:ext cx="162878" cy="150183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0372725" y="5153970"/>
            <a:ext cx="162877" cy="162958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0535602" y="5316928"/>
            <a:ext cx="162878" cy="169472"/>
          </a:xfrm>
          <a:prstGeom prst="line">
            <a:avLst/>
          </a:prstGeom>
          <a:ln w="3302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010144" y="5404104"/>
            <a:ext cx="164592" cy="164592"/>
          </a:xfrm>
          <a:prstGeom prst="ellipse">
            <a:avLst/>
          </a:prstGeom>
          <a:solidFill>
            <a:srgbClr val="278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616184" y="5404104"/>
            <a:ext cx="164592" cy="164592"/>
          </a:xfrm>
          <a:prstGeom prst="ellipse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0" y="55595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27865A"/>
                </a:solidFill>
                <a:latin typeface="Arial"/>
              </a:rPr>
              <a:t>start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78440" y="5559552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1A365D"/>
                </a:solidFill>
                <a:latin typeface="Arial"/>
              </a:rPr>
              <a:t>goal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5577840"/>
            <a:ext cx="45262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i="0">
                <a:solidFill>
                  <a:srgbClr val="A93226"/>
                </a:solidFill>
                <a:latin typeface="Arial"/>
              </a:rPr>
              <a:t>no-spill SE(3) carry trajectory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3474720" y="5852160"/>
            <a:ext cx="2194560" cy="109728"/>
          </a:xfrm>
          <a:prstGeom prst="line">
            <a:avLst/>
          </a:prstGeom>
          <a:ln w="25400">
            <a:solidFill>
              <a:srgbClr val="1A36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H="1">
            <a:off x="6766560" y="5852160"/>
            <a:ext cx="2560320" cy="109728"/>
          </a:xfrm>
          <a:prstGeom prst="line">
            <a:avLst/>
          </a:prstGeom>
          <a:ln w="25400">
            <a:solidFill>
              <a:srgbClr val="1A365D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371600" y="5989320"/>
            <a:ext cx="9418320" cy="566928"/>
          </a:xfrm>
          <a:prstGeom prst="roundRect">
            <a:avLst/>
          </a:prstGeom>
          <a:solidFill>
            <a:srgbClr val="1A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⟹  Together: a motion-aware grasp-pose selector</a:t>
            </a:r>
            <a:r>
              <a:rPr sz="1150" b="0">
                <a:solidFill>
                  <a:srgbClr val="FFFFFF"/>
                </a:solidFill>
                <a:latin typeface="Arial"/>
              </a:rPr>
              <a:t>   — pick the grasp the spill-free planner carries with the largest margin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365D"/>
                </a:solidFill>
                <a:latin typeface="Arial"/>
              </a:rPr>
              <a:t>Problem — the danger is motion, not just tilt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064240" cy="279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44168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00" b="0" i="0">
                <a:solidFill>
                  <a:srgbClr val="2C3E50"/>
                </a:solidFill>
                <a:latin typeface="Arial"/>
              </a:rPr>
              <a:t>Given a grasped mug + start/goal poses, plan a 6-DoF trajectory that is </a:t>
            </a:r>
            <a:r>
              <a:rPr sz="1600" b="1" i="0">
                <a:solidFill>
                  <a:srgbClr val="2C3E50"/>
                </a:solidFill>
                <a:latin typeface="Arial"/>
              </a:rPr>
              <a:t>spill-free, obstacle-avoiding, and smooth.</a:t>
            </a:r>
          </a:p>
        </p:txBody>
      </p:sp>
      <p:pic>
        <p:nvPicPr>
          <p:cNvPr id="5" name="Picture 4" descr="spill_c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5633" y="1874519"/>
            <a:ext cx="7020428" cy="3383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367528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1A365D"/>
                </a:solidFill>
                <a:latin typeface="Arial"/>
              </a:rPr>
              <a:t>No-spill ⇔ apparent-up  a − g  stays inside the rim cone  θmax.   </a:t>
            </a:r>
            <a:r>
              <a:rPr sz="1400" b="0" i="0">
                <a:solidFill>
                  <a:srgbClr val="2C3E50"/>
                </a:solidFill>
                <a:latin typeface="Arial"/>
              </a:rPr>
              <a:t>Static  tilt ≤ θmax  is the easy part; under acceleration  a − g  tilts away from vertical — that dynamic margin is the real constraint.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365D"/>
                </a:solidFill>
                <a:latin typeface="Arial"/>
              </a:rPr>
              <a:t>Why the grasp matters — it reshapes the spill margin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064240" cy="279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53328" y="1554480"/>
            <a:ext cx="15240" cy="2103120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17320" y="14630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27865A"/>
                </a:solidFill>
                <a:latin typeface="Arial"/>
              </a:rPr>
              <a:t>handle grip  —  large offset r</a:t>
            </a:r>
          </a:p>
        </p:txBody>
      </p:sp>
      <p:sp>
        <p:nvSpPr>
          <p:cNvPr id="6" name="Rectangle 5"/>
          <p:cNvSpPr/>
          <p:nvPr/>
        </p:nvSpPr>
        <p:spPr>
          <a:xfrm>
            <a:off x="1709928" y="3246120"/>
            <a:ext cx="512064" cy="128016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09928" y="2953512"/>
            <a:ext cx="118872" cy="310896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03120" y="2953512"/>
            <a:ext cx="118872" cy="310896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40156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2C3E50"/>
                </a:solidFill>
                <a:latin typeface="Arial"/>
              </a:rPr>
              <a:t>EE / wrist</a:t>
            </a:r>
          </a:p>
        </p:txBody>
      </p:sp>
      <p:sp>
        <p:nvSpPr>
          <p:cNvPr id="10" name="Trapezoid 9"/>
          <p:cNvSpPr/>
          <p:nvPr/>
        </p:nvSpPr>
        <p:spPr>
          <a:xfrm rot="10800000">
            <a:off x="3054096" y="1828800"/>
            <a:ext cx="749808" cy="914400"/>
          </a:xfrm>
          <a:prstGeom prst="trapezoid">
            <a:avLst/>
          </a:prstGeom>
          <a:solidFill>
            <a:srgbClr val="EEF2F7"/>
          </a:solidFill>
          <a:ln w="22225">
            <a:solidFill>
              <a:srgbClr val="278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" name="Connector 10"/>
          <p:cNvCxnSpPr/>
          <p:nvPr/>
        </p:nvCxnSpPr>
        <p:spPr>
          <a:xfrm flipV="1">
            <a:off x="2148840" y="2697480"/>
            <a:ext cx="1097280" cy="502920"/>
          </a:xfrm>
          <a:prstGeom prst="line">
            <a:avLst/>
          </a:prstGeom>
          <a:ln w="25400">
            <a:solidFill>
              <a:srgbClr val="27865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33472" y="2670048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 i="0">
                <a:solidFill>
                  <a:srgbClr val="27865A"/>
                </a:solidFill>
                <a:latin typeface="Arial"/>
              </a:rPr>
              <a:t>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29000" y="2240280"/>
            <a:ext cx="868680" cy="0"/>
          </a:xfrm>
          <a:prstGeom prst="line">
            <a:avLst/>
          </a:prstGeom>
          <a:ln w="3302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315968" y="2084831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0392B"/>
                </a:solidFill>
                <a:latin typeface="Arial"/>
              </a:rPr>
              <a:t>a_cup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17341" y="3115164"/>
            <a:ext cx="75983" cy="97254"/>
          </a:xfrm>
          <a:prstGeom prst="line">
            <a:avLst/>
          </a:prstGeom>
          <a:ln w="25400">
            <a:solidFill>
              <a:srgbClr val="2C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793324" y="3212418"/>
            <a:ext cx="110927" cy="54103"/>
          </a:xfrm>
          <a:prstGeom prst="line">
            <a:avLst/>
          </a:prstGeom>
          <a:ln w="25400">
            <a:solidFill>
              <a:srgbClr val="2C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904251" y="3266521"/>
            <a:ext cx="123417" cy="0"/>
          </a:xfrm>
          <a:prstGeom prst="line">
            <a:avLst/>
          </a:prstGeom>
          <a:ln w="25400">
            <a:solidFill>
              <a:srgbClr val="2C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2027668" y="3212418"/>
            <a:ext cx="110927" cy="54103"/>
          </a:xfrm>
          <a:prstGeom prst="line">
            <a:avLst/>
          </a:prstGeom>
          <a:ln w="25400">
            <a:solidFill>
              <a:srgbClr val="2C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138595" y="3115164"/>
            <a:ext cx="75983" cy="97254"/>
          </a:xfrm>
          <a:prstGeom prst="line">
            <a:avLst/>
          </a:prstGeom>
          <a:ln w="25400">
            <a:solidFill>
              <a:srgbClr val="2C6FB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257860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2C6FBB"/>
                </a:solidFill>
                <a:latin typeface="Arial"/>
              </a:rPr>
              <a:t>α (same)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14630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C0392B"/>
                </a:solidFill>
                <a:latin typeface="Arial"/>
              </a:rPr>
              <a:t>body grip  —  small offset 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699248" y="3246120"/>
            <a:ext cx="512064" cy="128016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99248" y="2953512"/>
            <a:ext cx="118872" cy="310896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2953512"/>
            <a:ext cx="118872" cy="310896"/>
          </a:xfrm>
          <a:prstGeom prst="rect">
            <a:avLst/>
          </a:prstGeom>
          <a:solidFill>
            <a:srgbClr val="2C3E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60920" y="3401568"/>
            <a:ext cx="1188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 i="0">
                <a:solidFill>
                  <a:srgbClr val="2C3E50"/>
                </a:solidFill>
                <a:latin typeface="Arial"/>
              </a:rPr>
              <a:t>EE / wrist</a:t>
            </a:r>
          </a:p>
        </p:txBody>
      </p:sp>
      <p:sp>
        <p:nvSpPr>
          <p:cNvPr id="26" name="Trapezoid 25"/>
          <p:cNvSpPr/>
          <p:nvPr/>
        </p:nvSpPr>
        <p:spPr>
          <a:xfrm rot="10800000">
            <a:off x="7872984" y="2148840"/>
            <a:ext cx="676656" cy="822960"/>
          </a:xfrm>
          <a:prstGeom prst="trapezoid">
            <a:avLst/>
          </a:prstGeom>
          <a:solidFill>
            <a:srgbClr val="EEF2F7"/>
          </a:solidFill>
          <a:ln w="222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 flipV="1">
            <a:off x="8046720" y="2971800"/>
            <a:ext cx="164592" cy="228600"/>
          </a:xfrm>
          <a:prstGeom prst="line">
            <a:avLst/>
          </a:prstGeom>
          <a:ln w="25400">
            <a:solidFill>
              <a:srgbClr val="C0392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754112" y="2743200"/>
            <a:ext cx="274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C0392B"/>
                </a:solidFill>
                <a:latin typeface="Arial"/>
              </a:rPr>
              <a:t>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11312" y="2578608"/>
            <a:ext cx="475488" cy="0"/>
          </a:xfrm>
          <a:prstGeom prst="line">
            <a:avLst/>
          </a:prstGeom>
          <a:ln w="3302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8705088" y="242316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 i="0">
                <a:solidFill>
                  <a:srgbClr val="C0392B"/>
                </a:solidFill>
                <a:latin typeface="Arial"/>
              </a:rPr>
              <a:t>a_cup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706661" y="3115164"/>
            <a:ext cx="75983" cy="97254"/>
          </a:xfrm>
          <a:prstGeom prst="line">
            <a:avLst/>
          </a:prstGeom>
          <a:ln w="25400">
            <a:solidFill>
              <a:srgbClr val="2C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782644" y="3212418"/>
            <a:ext cx="110927" cy="54103"/>
          </a:xfrm>
          <a:prstGeom prst="line">
            <a:avLst/>
          </a:prstGeom>
          <a:ln w="25400">
            <a:solidFill>
              <a:srgbClr val="2C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893571" y="3266521"/>
            <a:ext cx="123417" cy="0"/>
          </a:xfrm>
          <a:prstGeom prst="line">
            <a:avLst/>
          </a:prstGeom>
          <a:ln w="25400">
            <a:solidFill>
              <a:srgbClr val="2C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016988" y="3212418"/>
            <a:ext cx="110927" cy="54103"/>
          </a:xfrm>
          <a:prstGeom prst="line">
            <a:avLst/>
          </a:prstGeom>
          <a:ln w="25400">
            <a:solidFill>
              <a:srgbClr val="2C6F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127915" y="3115164"/>
            <a:ext cx="75983" cy="97254"/>
          </a:xfrm>
          <a:prstGeom prst="line">
            <a:avLst/>
          </a:prstGeom>
          <a:ln w="25400">
            <a:solidFill>
              <a:srgbClr val="2C6FB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858000" y="2578608"/>
            <a:ext cx="1005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000" b="0" i="0">
                <a:solidFill>
                  <a:srgbClr val="2C6FBB"/>
                </a:solidFill>
                <a:latin typeface="Arial"/>
              </a:rPr>
              <a:t>α (same)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3703320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500" b="1" i="0">
                <a:solidFill>
                  <a:srgbClr val="1A365D"/>
                </a:solidFill>
                <a:latin typeface="Arial"/>
              </a:rPr>
              <a:t>a = a_ee + α×r + ω×(ω×r)</a:t>
            </a:r>
            <a:r>
              <a:rPr sz="1200" b="0" i="0">
                <a:solidFill>
                  <a:srgbClr val="2C3E50"/>
                </a:solidFill>
                <a:latin typeface="Arial"/>
              </a:rPr>
              <a:t>      same arm motion, different offset r → different acceleration at the liquid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270248"/>
            <a:ext cx="1106424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50" b="1" i="0">
                <a:solidFill>
                  <a:srgbClr val="1A365D"/>
                </a:solidFill>
                <a:latin typeface="Arial"/>
              </a:rPr>
              <a:t>•  Grasp reshapes the margin</a:t>
            </a:r>
            <a:r>
              <a:rPr sz="1650" b="0" i="0">
                <a:solidFill>
                  <a:srgbClr val="2C3E50"/>
                </a:solidFill>
                <a:latin typeface="Arial"/>
              </a:rPr>
              <a:t> — it sets the cup's offset r (lever effect on  a_cup) and how easily the arm keeps the cup upright (reachability).</a:t>
            </a:r>
          </a:p>
          <a:p>
            <a:pPr algn="l">
              <a:lnSpc>
                <a:spcPct val="125000"/>
              </a:lnSpc>
            </a:pPr>
            <a:r>
              <a:rPr sz="1650" b="0" i="0">
                <a:solidFill>
                  <a:srgbClr val="2C3E50"/>
                </a:solidFill>
                <a:latin typeface="Arial"/>
              </a:rPr>
              <a:t>•  So which grasp is safest is </a:t>
            </a:r>
            <a:r>
              <a:rPr sz="1650" b="1" i="0">
                <a:solidFill>
                  <a:srgbClr val="A93226"/>
                </a:solidFill>
                <a:latin typeface="Arial"/>
              </a:rPr>
              <a:t>measured, not assumed</a:t>
            </a:r>
            <a:r>
              <a:rPr sz="1650" b="0" i="0">
                <a:solidFill>
                  <a:srgbClr val="2C3E50"/>
                </a:solidFill>
                <a:latin typeface="Arial"/>
              </a:rPr>
              <a:t> — the planner scores each grasp  (→ next: Method).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365D"/>
                </a:solidFill>
                <a:latin typeface="Arial"/>
              </a:rPr>
              <a:t>Related work &amp; the gap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064240" cy="279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417320"/>
          <a:ext cx="1088135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3840480"/>
                <a:gridCol w="3291840"/>
              </a:tblGrid>
              <a:tr h="7315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Line of work</a:t>
                      </a:r>
                    </a:p>
                  </a:txBody>
                  <a:tcPr marL="109728" marR="91440" marT="54864" marB="54864"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What they do</a:t>
                      </a:r>
                    </a:p>
                  </a:txBody>
                  <a:tcPr marL="109728" marR="91440" marT="54864" marB="54864" anchor="ctr">
                    <a:solidFill>
                      <a:srgbClr val="1A365D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109728" marR="91440" marT="54864" marB="54864" anchor="ctr">
                    <a:solidFill>
                      <a:srgbClr val="1A365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Arial"/>
                        </a:rPr>
                        <a:t>Anti-slosh / spill-free planning
(Muchacho '22, Abderezaei '24)</a:t>
                      </a:r>
                    </a:p>
                  </a:txBody>
                  <a:tcPr marL="109728" marR="91440" marT="54864" marB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Arial"/>
                        </a:rPr>
                        <a:t>spill-free trajectory for a fixed container pose</a:t>
                      </a:r>
                    </a:p>
                  </a:txBody>
                  <a:tcPr marL="109728" marR="91440" marT="54864" marB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Arial"/>
                        </a:rPr>
                        <a:t>grasp is a fixed boundary condition</a:t>
                      </a:r>
                    </a:p>
                  </a:txBody>
                  <a:tcPr marL="109728" marR="91440" marT="54864" marB="54864" anchor="ctr">
                    <a:solidFill>
                      <a:srgbClr val="F2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Arial"/>
                        </a:rPr>
                        <a:t>Waiter / non-prehensile
(Heins '23, Selvaggio '23)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Arial"/>
                        </a:rPr>
                        <a:t>keep object from tipping / sliding (friction cone)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Arial"/>
                        </a:rPr>
                        <a:t>rigid object, no liquid, no grasp choice</a:t>
                      </a:r>
                    </a:p>
                  </a:txBody>
                  <a:tcPr marL="109728" marR="91440" marT="54864" marB="54864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Arial"/>
                        </a:rPr>
                        <a:t>Affordance / task-oriented grasping
(Dang &amp; Allen '12, Quispe &amp; Stilman '16)</a:t>
                      </a:r>
                    </a:p>
                  </a:txBody>
                  <a:tcPr marL="109728" marR="91440" marT="54864" marB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Arial"/>
                        </a:rPr>
                        <a:t>pick a task-appropriate grasp</a:t>
                      </a:r>
                    </a:p>
                  </a:txBody>
                  <a:tcPr marL="109728" marR="91440" marT="54864" marB="54864" anchor="ctr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2C3E50"/>
                          </a:solidFill>
                          <a:latin typeface="Arial"/>
                        </a:rPr>
                        <a:t>stops at selection — never carries it</a:t>
                      </a:r>
                    </a:p>
                  </a:txBody>
                  <a:tcPr marL="109728" marR="91440" marT="54864" marB="54864" anchor="ctr">
                    <a:solidFill>
                      <a:srgbClr val="F2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61772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 i="0">
                <a:solidFill>
                  <a:srgbClr val="A93226"/>
                </a:solidFill>
                <a:latin typeface="Arial"/>
              </a:rPr>
              <a:t>Nobody connects grasp choice to a physical spill margin. </a:t>
            </a:r>
            <a:r>
              <a:rPr sz="1600" b="0" i="0">
                <a:solidFill>
                  <a:srgbClr val="2C3E50"/>
                </a:solidFill>
                <a:latin typeface="Arial"/>
              </a:rPr>
              <a:t>We make the trajectory optimizer </a:t>
            </a:r>
            <a:r>
              <a:rPr sz="1600" b="1" i="0">
                <a:solidFill>
                  <a:srgbClr val="2C3E50"/>
                </a:solidFill>
                <a:latin typeface="Arial"/>
              </a:rPr>
              <a:t>score grasps</a:t>
            </a:r>
            <a:r>
              <a:rPr sz="1600" b="0" i="0">
                <a:solidFill>
                  <a:srgbClr val="2C3E50"/>
                </a:solidFill>
                <a:latin typeface="Arial"/>
              </a:rPr>
              <a:t> by how safely they carry.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365D"/>
                </a:solidFill>
                <a:latin typeface="Arial"/>
              </a:rPr>
              <a:t>Method — spill-aware CHOMP, run per grasp as an evaluator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064240" cy="279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53312"/>
            <a:ext cx="11247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A365D"/>
                </a:solidFill>
                <a:latin typeface="Arial"/>
              </a:rPr>
              <a:t>J(ξ) = J_smooth + J_obs + λₛ J_spill</a:t>
            </a:r>
            <a:r>
              <a:rPr sz="1250" b="0" i="0">
                <a:solidFill>
                  <a:srgbClr val="2C3E50"/>
                </a:solidFill>
                <a:latin typeface="Arial"/>
              </a:rPr>
              <a:t>     (course CHOMP, Lec. 8  +  our spill term) ;     ξ ← ξ − η A⁻¹ ∇J</a:t>
            </a:r>
          </a:p>
          <a:p>
            <a:pPr algn="ctr">
              <a:lnSpc>
                <a:spcPct val="115000"/>
              </a:lnSpc>
            </a:pPr>
            <a:r>
              <a:rPr sz="1350" b="1" i="0">
                <a:solidFill>
                  <a:srgbClr val="A93226"/>
                </a:solidFill>
                <a:latin typeface="Arial"/>
              </a:rPr>
              <a:t>J_spill = Σₜ max( 0,  cos θmax − n·û )² ,    û = (a − g) / ‖a − g‖ ,    n = cup axis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2304288"/>
            <a:ext cx="2743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2C3E50"/>
                </a:solidFill>
                <a:latin typeface="Arial"/>
              </a:rPr>
              <a:t>candidate grasps
(taxonomy / region)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88920"/>
            <a:ext cx="22402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786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27865A"/>
                </a:solidFill>
                <a:latin typeface="Arial"/>
              </a:rPr>
              <a:t>handle grip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520440"/>
            <a:ext cx="22402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6F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2C6FBB"/>
                </a:solidFill>
                <a:latin typeface="Arial"/>
              </a:rPr>
              <a:t>rim grip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251960"/>
            <a:ext cx="2240280" cy="53035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C0392B"/>
                </a:solidFill>
                <a:latin typeface="Arial"/>
              </a:rPr>
              <a:t>body grip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3108960"/>
            <a:ext cx="214884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300" b="1">
                <a:solidFill>
                  <a:srgbClr val="2C3E50"/>
                </a:solidFill>
                <a:latin typeface="Arial"/>
              </a:rPr>
              <a:t>Spill-aware CHOMP</a:t>
            </a:r>
          </a:p>
          <a:p>
            <a:pPr algn="ctr"/>
            <a:r>
              <a:rPr sz="1100" b="0">
                <a:solidFill>
                  <a:srgbClr val="2C3E50"/>
                </a:solidFill>
                <a:latin typeface="Arial"/>
              </a:rPr>
              <a:t>(per grasp)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07208" y="3054096"/>
            <a:ext cx="786384" cy="603504"/>
          </a:xfrm>
          <a:prstGeom prst="line">
            <a:avLst/>
          </a:prstGeom>
          <a:ln w="19050">
            <a:solidFill>
              <a:srgbClr val="27865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2807208" y="3657600"/>
            <a:ext cx="786384" cy="128015"/>
          </a:xfrm>
          <a:prstGeom prst="line">
            <a:avLst/>
          </a:prstGeom>
          <a:ln w="19050">
            <a:solidFill>
              <a:srgbClr val="2C6FB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2807208" y="3657600"/>
            <a:ext cx="786384" cy="859536"/>
          </a:xfrm>
          <a:prstGeom prst="line">
            <a:avLst/>
          </a:prstGeom>
          <a:ln w="19050">
            <a:solidFill>
              <a:srgbClr val="C0392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309360" y="2350008"/>
            <a:ext cx="5394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1" i="0">
                <a:solidFill>
                  <a:srgbClr val="1A365D"/>
                </a:solidFill>
                <a:latin typeface="Arial"/>
              </a:rPr>
              <a:t>achievable margin to spill cone  (score)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79008" y="3657600"/>
            <a:ext cx="1033272" cy="0"/>
          </a:xfrm>
          <a:prstGeom prst="line">
            <a:avLst/>
          </a:prstGeom>
          <a:ln w="25400">
            <a:solidFill>
              <a:srgbClr val="88888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6903720" y="2788920"/>
            <a:ext cx="3915783" cy="502920"/>
          </a:xfrm>
          <a:prstGeom prst="rect">
            <a:avLst/>
          </a:prstGeom>
          <a:solidFill>
            <a:srgbClr val="2786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76872" y="2788920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handle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92655" y="278892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7865A"/>
                </a:solidFill>
                <a:latin typeface="Arial"/>
              </a:rPr>
              <a:t>32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3520440"/>
            <a:ext cx="2692101" cy="502920"/>
          </a:xfrm>
          <a:prstGeom prst="rect">
            <a:avLst/>
          </a:prstGeom>
          <a:solidFill>
            <a:srgbClr val="2C6F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76872" y="3520440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rim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68973" y="352044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2C6FBB"/>
                </a:solidFill>
                <a:latin typeface="Arial"/>
              </a:rPr>
              <a:t>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4251960"/>
            <a:ext cx="1468418" cy="502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76872" y="4251960"/>
            <a:ext cx="1280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 i="0">
                <a:solidFill>
                  <a:srgbClr val="FFFFFF"/>
                </a:solidFill>
                <a:latin typeface="Arial"/>
              </a:rPr>
              <a:t>body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45290" y="4251960"/>
            <a:ext cx="640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 i="0">
                <a:solidFill>
                  <a:srgbClr val="C0392B"/>
                </a:solidFill>
                <a:latin typeface="Arial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489204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666666"/>
                </a:solidFill>
                <a:latin typeface="Arial"/>
              </a:rPr>
              <a:t>wider margin = easier, safer carry  (illustrative)</a:t>
            </a:r>
          </a:p>
        </p:txBody>
      </p:sp>
      <p:cxnSp>
        <p:nvCxnSpPr>
          <p:cNvPr id="25" name="Connector 24"/>
          <p:cNvCxnSpPr/>
          <p:nvPr/>
        </p:nvCxnSpPr>
        <p:spPr>
          <a:xfrm flipH="1">
            <a:off x="1645920" y="5349240"/>
            <a:ext cx="8961120" cy="0"/>
          </a:xfrm>
          <a:prstGeom prst="line">
            <a:avLst/>
          </a:prstGeom>
          <a:ln w="22860">
            <a:solidFill>
              <a:srgbClr val="1A365D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1371600" y="5513832"/>
            <a:ext cx="9509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 i="1">
                <a:solidFill>
                  <a:srgbClr val="1A365D"/>
                </a:solidFill>
                <a:latin typeface="Arial"/>
              </a:rPr>
              <a:t>future (thesis): spill margin → grasp-generation reward — close the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A365D"/>
                </a:solidFill>
                <a:latin typeface="Arial"/>
              </a:rPr>
              <a:t>Evaluation &amp;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15568"/>
            <a:ext cx="11064240" cy="279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ablati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680" y="1371600"/>
            <a:ext cx="8342334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224528"/>
            <a:ext cx="1106424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C3E50"/>
                </a:solidFill>
                <a:latin typeface="Arial"/>
              </a:rPr>
              <a:t>• 3-way ablation: </a:t>
            </a:r>
            <a:r>
              <a:rPr sz="1450" b="0" i="0">
                <a:solidFill>
                  <a:srgbClr val="2C3E50"/>
                </a:solidFill>
                <a:latin typeface="Arial"/>
              </a:rPr>
              <a:t>linear interp / CHOMP / CHOMP + spill — on a mug, with and without obstacles.</a:t>
            </a:r>
          </a:p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C3E50"/>
                </a:solidFill>
                <a:latin typeface="Arial"/>
              </a:rPr>
              <a:t>• Metrics: </a:t>
            </a:r>
            <a:r>
              <a:rPr sz="1450" b="0" i="0">
                <a:solidFill>
                  <a:srgbClr val="2C3E50"/>
                </a:solidFill>
                <a:latin typeface="Arial"/>
              </a:rPr>
              <a:t>spill ratio, path length, smoothness (jerk), plan time; run across grasps to show the margin differs.</a:t>
            </a:r>
          </a:p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C3E50"/>
                </a:solidFill>
                <a:latin typeface="Arial"/>
              </a:rPr>
              <a:t>• Demo: </a:t>
            </a:r>
            <a:r>
              <a:rPr sz="1450" b="0" i="0">
                <a:solidFill>
                  <a:srgbClr val="2C3E50"/>
                </a:solidFill>
                <a:latin typeface="Arial"/>
              </a:rPr>
              <a:t>SAPIEN particles on the liquid surface → count how many cross the rim.</a:t>
            </a:r>
          </a:p>
          <a:p>
            <a:pPr algn="l">
              <a:lnSpc>
                <a:spcPct val="112000"/>
              </a:lnSpc>
            </a:pPr>
            <a:r>
              <a:rPr sz="1450" b="1" i="0">
                <a:solidFill>
                  <a:srgbClr val="2C3E50"/>
                </a:solidFill>
                <a:latin typeface="Arial"/>
              </a:rPr>
              <a:t>• Timeline: </a:t>
            </a:r>
            <a:r>
              <a:rPr sz="1450" b="0" i="0">
                <a:solidFill>
                  <a:srgbClr val="2C3E50"/>
                </a:solidFill>
                <a:latin typeface="Arial"/>
              </a:rPr>
              <a:t>implementation + ablation within ~1 week  (proposal 06-08 → report 06-15).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0080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</a:pPr>
            <a:r>
              <a:rPr sz="1200" b="0" i="0">
                <a:solidFill>
                  <a:srgbClr val="666666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