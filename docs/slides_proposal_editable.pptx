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Affordance-Grasp Conditioned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Spill-Free Trajectory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7947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2C3E50"/>
                </a:solidFill>
                <a:latin typeface="Arial"/>
              </a:rPr>
              <a:t>Does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you grasp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a cup change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safely you can carry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Jihoon Yun   ·   Motion Planning   ·  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My thesis picks the grasp — this project plans the carry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417320"/>
            <a:ext cx="6446520" cy="43891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1417320"/>
            <a:ext cx="4983480" cy="4389120"/>
          </a:xfrm>
          <a:prstGeom prst="roundRect">
            <a:avLst/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17904"/>
            <a:ext cx="6217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A365D"/>
                </a:solidFill>
                <a:latin typeface="Arial"/>
              </a:rPr>
              <a:t>MY THESIS</a:t>
            </a:r>
            <a:r>
              <a:rPr sz="1250" b="0" i="0">
                <a:solidFill>
                  <a:srgbClr val="1A365D"/>
                </a:solidFill>
                <a:latin typeface="Arial"/>
              </a:rPr>
              <a:t>  ·  Affordance &amp; taxonomy-aware grasp pose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517904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A93226"/>
                </a:solidFill>
                <a:latin typeface="Arial"/>
              </a:rPr>
              <a:t>THIS PROJECT  ·  spill-free carry (motion planning)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5544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object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29000"/>
            <a:ext cx="1920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task (language)</a:t>
            </a:r>
          </a:p>
          <a:p>
            <a:pPr algn="ctr"/>
            <a:r>
              <a:rPr sz="1000" b="0">
                <a:solidFill>
                  <a:srgbClr val="2C3E50"/>
                </a:solidFill>
                <a:latin typeface="Arial"/>
              </a:rPr>
              <a:t>"pour" / "drink" / "hand over"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74320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Grasp</a:t>
            </a:r>
          </a:p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generation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2697480"/>
            <a:ext cx="603504" cy="411480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41448" y="3520440"/>
            <a:ext cx="237744" cy="228599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grasp_drink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02147"/>
            <a:ext cx="1325880" cy="1076264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 flipV="1">
            <a:off x="4160520" y="2240280"/>
            <a:ext cx="347472" cy="1097280"/>
          </a:xfrm>
          <a:prstGeom prst="line">
            <a:avLst/>
          </a:prstGeom>
          <a:ln w="17780">
            <a:solidFill>
              <a:srgbClr val="278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7880" y="205740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7865A"/>
                </a:solidFill>
                <a:latin typeface="Arial"/>
              </a:rPr>
              <a:t>drink</a:t>
            </a:r>
          </a:p>
        </p:txBody>
      </p:sp>
      <p:pic>
        <p:nvPicPr>
          <p:cNvPr id="16" name="Picture 15" descr="grasp_pouring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63967"/>
            <a:ext cx="1325880" cy="1312944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4160520" y="3337560"/>
            <a:ext cx="347472" cy="182880"/>
          </a:xfrm>
          <a:prstGeom prst="line">
            <a:avLst/>
          </a:prstGeom>
          <a:ln w="17780">
            <a:solidFill>
              <a:srgbClr val="2C6F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97880" y="333756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C6FBB"/>
                </a:solidFill>
                <a:latin typeface="Arial"/>
              </a:rPr>
              <a:t>pour</a:t>
            </a:r>
          </a:p>
        </p:txBody>
      </p:sp>
      <p:pic>
        <p:nvPicPr>
          <p:cNvPr id="19" name="Picture 18" descr="grasp_handover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218704"/>
            <a:ext cx="1325880" cy="1163791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4160520" y="3337560"/>
            <a:ext cx="347472" cy="1463040"/>
          </a:xfrm>
          <a:prstGeom prst="line">
            <a:avLst/>
          </a:prstGeom>
          <a:ln w="17780">
            <a:solidFill>
              <a:srgbClr val="8E44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97880" y="461772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44AD"/>
                </a:solidFill>
                <a:latin typeface="Arial"/>
              </a:rPr>
              <a:t>hand-over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53212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2C3E50"/>
                </a:solidFill>
                <a:latin typeface="Arial"/>
              </a:rPr>
              <a:t>same mug, task → different grasp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989320" y="2697480"/>
            <a:ext cx="1097280" cy="548640"/>
          </a:xfrm>
          <a:prstGeom prst="line">
            <a:avLst/>
          </a:prstGeom>
          <a:ln w="3175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89320" y="260604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365D"/>
                </a:solidFill>
                <a:latin typeface="Arial"/>
              </a:rPr>
              <a:t>a grasp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2240280"/>
            <a:ext cx="4526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9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2C3E50"/>
                </a:solidFill>
                <a:latin typeface="Arial"/>
              </a:rPr>
              <a:t>inputs:  grasp pose  +  start &amp; goal EE poses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90888" y="288036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3200400"/>
            <a:ext cx="3703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Spill-free trajectory optimization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(CHOMP + spill cost — ours)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90888" y="406908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092440" y="5316928"/>
            <a:ext cx="162877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55317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418194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81072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743950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906827" y="4683844"/>
            <a:ext cx="162878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69705" y="4634411"/>
            <a:ext cx="162877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232582" y="4617720"/>
            <a:ext cx="162877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395459" y="4617720"/>
            <a:ext cx="162878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558337" y="4634411"/>
            <a:ext cx="162878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21215" y="4683844"/>
            <a:ext cx="162877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884092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46969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09847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372725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35602" y="5316928"/>
            <a:ext cx="162878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8010144" y="5404104"/>
            <a:ext cx="164592" cy="164592"/>
          </a:xfrm>
          <a:prstGeom prst="ellipse">
            <a:avLst/>
          </a:prstGeom>
          <a:solidFill>
            <a:srgbClr val="27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16184" y="5404104"/>
            <a:ext cx="164592" cy="164592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27865A"/>
                </a:solidFill>
                <a:latin typeface="Arial"/>
              </a:rPr>
              <a:t>start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A365D"/>
                </a:solidFill>
                <a:latin typeface="Arial"/>
              </a:rPr>
              <a:t>goal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57784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A93226"/>
                </a:solidFill>
                <a:latin typeface="Arial"/>
              </a:rPr>
              <a:t>no-spill SE(3) carry trajectory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74720" y="5852160"/>
            <a:ext cx="2194560" cy="109728"/>
          </a:xfrm>
          <a:prstGeom prst="line">
            <a:avLst/>
          </a:prstGeom>
          <a:ln w="2540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766560" y="5852160"/>
            <a:ext cx="2560320" cy="109728"/>
          </a:xfrm>
          <a:prstGeom prst="line">
            <a:avLst/>
          </a:prstGeom>
          <a:ln w="2540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371600" y="5989320"/>
            <a:ext cx="9418320" cy="566928"/>
          </a:xfrm>
          <a:prstGeom prst="round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⟹  Together: a motion-aware grasp-pose selector</a:t>
            </a:r>
            <a:r>
              <a:rPr sz="1150" b="0">
                <a:solidFill>
                  <a:srgbClr val="FFFFFF"/>
                </a:solidFill>
                <a:latin typeface="Arial"/>
              </a:rPr>
              <a:t>   — pick the grasp the spill-free planner carries with the largest margin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Problem — the danger is motion, not just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4416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C3E50"/>
                </a:solidFill>
                <a:latin typeface="Arial"/>
              </a:rPr>
              <a:t>Given a grasped mug + start/goal poses, plan a 6-DoF trajectory that is </a:t>
            </a:r>
            <a:r>
              <a:rPr sz="1600" b="1" i="0">
                <a:solidFill>
                  <a:srgbClr val="2C3E50"/>
                </a:solidFill>
                <a:latin typeface="Arial"/>
              </a:rPr>
              <a:t>spill-free, obstacle-avoiding, and smooth.</a:t>
            </a:r>
          </a:p>
        </p:txBody>
      </p:sp>
      <p:pic>
        <p:nvPicPr>
          <p:cNvPr id="5" name="Picture 4" descr="spill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633" y="1874519"/>
            <a:ext cx="7020428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675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A365D"/>
                </a:solidFill>
                <a:latin typeface="Arial"/>
              </a:rPr>
              <a:t>No-spill ⇔ apparent-up  a − g  stays inside the rim cone  θmax.   </a:t>
            </a:r>
            <a:r>
              <a:rPr sz="1400" b="0" i="0">
                <a:solidFill>
                  <a:srgbClr val="2C3E50"/>
                </a:solidFill>
                <a:latin typeface="Arial"/>
              </a:rPr>
              <a:t>Static  tilt ≤ θmax  is the easy part; under acceleration  a − g  tilts away from vertical — that dynamic margin is the real constraint.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Why the grasp matters — it reshapes the spill margin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485" y="1371600"/>
            <a:ext cx="6078723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C3E50"/>
                </a:solidFill>
                <a:latin typeface="Arial"/>
              </a:rPr>
              <a:t>• The grasp fixes  T(hand→cup): </a:t>
            </a:r>
            <a:r>
              <a:rPr sz="1500" b="0" i="0">
                <a:solidFill>
                  <a:srgbClr val="2C3E50"/>
                </a:solidFill>
                <a:latin typeface="Arial"/>
              </a:rPr>
              <a:t>the cup's offset r and orientation relative to the wrist.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Same arm motion → different cup acceleration  a_cup  (lever effect) → different spill margin.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Plus arm reachability: some grasps keep the cup upright easily, others don't.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The two effects can conflict → </a:t>
            </a:r>
            <a:r>
              <a:rPr sz="1500" b="1" i="0">
                <a:solidFill>
                  <a:srgbClr val="A93226"/>
                </a:solidFill>
                <a:latin typeface="Arial"/>
              </a:rPr>
              <a:t>which grasp is safest is measured, not assumed</a:t>
            </a:r>
            <a:r>
              <a:rPr sz="1500" b="0" i="0">
                <a:solidFill>
                  <a:srgbClr val="2C3E50"/>
                </a:solidFill>
                <a:latin typeface="Arial"/>
              </a:rPr>
              <a:t>  (see Method).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Related work &amp; the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5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840480"/>
                <a:gridCol w="32918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Line of work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do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Anti-slosh / spill-free planning
(Muchacho '22, Gandhi '24)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spill-free trajectory for a fixed container pose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grasp is a fixed boundary condition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Waiter / non-prehensile
(Heins '23, Selvaggio '23)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keep object from tipping / sliding (friction cone)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rigid object, no liquid, no grasp choice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Affordance / task-oriented grasping
("Grasping for a Purpose" '14, Dang '12)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pick a task-appropriate grasp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stops at selection — never carries it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17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93226"/>
                </a:solidFill>
                <a:latin typeface="Arial"/>
              </a:rPr>
              <a:t>Nobody connects grasp choice to a physical spill margin. </a:t>
            </a:r>
            <a:r>
              <a:rPr sz="1600" b="0" i="0">
                <a:solidFill>
                  <a:srgbClr val="2C3E50"/>
                </a:solidFill>
                <a:latin typeface="Arial"/>
              </a:rPr>
              <a:t>We make the trajectory optimizer </a:t>
            </a:r>
            <a:r>
              <a:rPr sz="1600" b="1" i="0">
                <a:solidFill>
                  <a:srgbClr val="2C3E50"/>
                </a:solidFill>
                <a:latin typeface="Arial"/>
              </a:rPr>
              <a:t>score grasps</a:t>
            </a:r>
            <a:r>
              <a:rPr sz="1600" b="0" i="0">
                <a:solidFill>
                  <a:srgbClr val="2C3E50"/>
                </a:solidFill>
                <a:latin typeface="Arial"/>
              </a:rPr>
              <a:t> by how safely they carry.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spill-aware CHOMP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82" y="1417320"/>
            <a:ext cx="1065853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3434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A365D"/>
                </a:solidFill>
                <a:latin typeface="Arial"/>
              </a:rPr>
              <a:t>J(ξ) = J_smooth + J_obs + λₛ · J_spill</a:t>
            </a:r>
            <a:r>
              <a:rPr sz="1800" b="0" i="0">
                <a:solidFill>
                  <a:srgbClr val="2C3E50"/>
                </a:solidFill>
                <a:latin typeface="Arial"/>
              </a:rPr>
              <a:t>          ξ ← ξ − η A⁻¹ ∇J(ξ)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2C3E50"/>
                </a:solidFill>
                <a:latin typeface="Arial"/>
              </a:rPr>
              <a:t>Course CHOMP (Lecture 8) + </a:t>
            </a:r>
            <a:r>
              <a:rPr sz="1400" b="1" i="0">
                <a:solidFill>
                  <a:srgbClr val="A93226"/>
                </a:solidFill>
                <a:latin typeface="Arial"/>
              </a:rPr>
              <a:t>one differentiable spill term</a:t>
            </a:r>
            <a:r>
              <a:rPr sz="1400" b="0" i="0">
                <a:solidFill>
                  <a:srgbClr val="2C3E50"/>
                </a:solidFill>
                <a:latin typeface="Arial"/>
              </a:rPr>
              <a:t>.  a_cup comes from finite differences of ξ — the same operator as the smoothness term, so the spill gradient is analytic.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the optimizer as a grasp evaluator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46304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C3E50"/>
                </a:solidFill>
                <a:latin typeface="Arial"/>
              </a:rPr>
              <a:t>candidate grasps
(taxonomy /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8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27865A"/>
                </a:solidFill>
                <a:latin typeface="Arial"/>
              </a:rPr>
              <a:t>handle grip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54680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2C6FBB"/>
                </a:solidFill>
                <a:latin typeface="Arial"/>
              </a:rPr>
              <a:t>rim grip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2240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C0392B"/>
                </a:solidFill>
                <a:latin typeface="Arial"/>
              </a:rPr>
              <a:t>body grip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743200"/>
            <a:ext cx="214884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2C3E50"/>
                </a:solidFill>
                <a:latin typeface="Arial"/>
              </a:rPr>
              <a:t>Spill-aware CHOMP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(per grasp)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2615184"/>
            <a:ext cx="786384" cy="749808"/>
          </a:xfrm>
          <a:prstGeom prst="line">
            <a:avLst/>
          </a:prstGeom>
          <a:ln w="19050">
            <a:solidFill>
              <a:srgbClr val="278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07208" y="3364992"/>
            <a:ext cx="786384" cy="73152"/>
          </a:xfrm>
          <a:prstGeom prst="line">
            <a:avLst/>
          </a:prstGeom>
          <a:ln w="19050">
            <a:solidFill>
              <a:srgbClr val="2C6F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807208" y="3364992"/>
            <a:ext cx="786384" cy="896111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0" y="1481328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A365D"/>
                </a:solidFill>
                <a:latin typeface="Arial"/>
              </a:rPr>
              <a:t>achievable spill margin  θmax  (score)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79008" y="3364992"/>
            <a:ext cx="1033272" cy="0"/>
          </a:xfrm>
          <a:prstGeom prst="line">
            <a:avLst/>
          </a:prstGeom>
          <a:ln w="25400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903720" y="2286000"/>
            <a:ext cx="3915783" cy="548640"/>
          </a:xfrm>
          <a:prstGeom prst="rect">
            <a:avLst/>
          </a:prstGeom>
          <a:solidFill>
            <a:srgbClr val="27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2304288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handle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2655" y="2304288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7865A"/>
                </a:solidFill>
                <a:latin typeface="Arial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3154680"/>
            <a:ext cx="2692101" cy="548640"/>
          </a:xfrm>
          <a:prstGeom prst="rect">
            <a:avLst/>
          </a:prstGeom>
          <a:solidFill>
            <a:srgbClr val="2C6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6872" y="3172968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68973" y="3172968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6FBB"/>
                </a:solidFill>
                <a:latin typeface="Arial"/>
              </a:rPr>
              <a:t>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4023360"/>
            <a:ext cx="1468418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4041648"/>
            <a:ext cx="1280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body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5290" y="4041648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7548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666666"/>
                </a:solidFill>
                <a:latin typeface="Arial"/>
              </a:rPr>
              <a:t>wider margin = easier, safer carry  (illustrative)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645920" y="5440680"/>
            <a:ext cx="8961120" cy="0"/>
          </a:xfrm>
          <a:prstGeom prst="line">
            <a:avLst/>
          </a:prstGeom>
          <a:ln w="22860">
            <a:solidFill>
              <a:srgbClr val="1A365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371600" y="55961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1A365D"/>
                </a:solidFill>
                <a:latin typeface="Arial"/>
              </a:rPr>
              <a:t>future (thesis): spill margin → grasp-generation reward — close the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Evaluation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80" y="1371600"/>
            <a:ext cx="8342334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24528"/>
            <a:ext cx="110642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3-way ablation: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linear interp / CHOMP / CHOMP + spill — on a mug, with and without obstacles.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Metrics: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spill ratio, path length, smoothness (jerk), plan time; run across grasps to show the margin differs.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Demo: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SAPIEN particles on the liquid surface → count how many cross the rim.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Timeline: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implementation + ablation within ~1 week  (proposal 06-08 → report 06-15).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