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Affordance-Grasp Conditioned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Spill-Free Trajectory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7947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2C3E50"/>
                </a:solidFill>
                <a:latin typeface="Arial"/>
              </a:rPr>
              <a:t>Does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you grasp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a cup change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safely you can carry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Jihoon Yun   ·   Motion Planning   ·  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My thesis picks the grasp — this project plans the carry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verview_thesis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02" y="1371600"/>
            <a:ext cx="943429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7900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65D"/>
                </a:solidFill>
                <a:latin typeface="Arial"/>
              </a:rPr>
              <a:t>My thesis (left): </a:t>
            </a:r>
            <a:r>
              <a:rPr sz="1300" b="0" i="0">
                <a:solidFill>
                  <a:srgbClr val="2C3E50"/>
                </a:solidFill>
                <a:latin typeface="Arial"/>
              </a:rPr>
              <a:t>object mesh + a natural-language task → a dexterous grasp (same mug, the task picks a different grasp).   </a:t>
            </a:r>
            <a:r>
              <a:rPr sz="1300" b="1" i="0">
                <a:solidFill>
                  <a:srgbClr val="A93226"/>
                </a:solidFill>
                <a:latin typeface="Arial"/>
              </a:rPr>
              <a:t>This project (right): </a:t>
            </a:r>
            <a:r>
              <a:rPr sz="1300" b="0" i="0">
                <a:solidFill>
                  <a:srgbClr val="2C3E50"/>
                </a:solidFill>
                <a:latin typeface="Arial"/>
              </a:rPr>
              <a:t>take that grasp + start/goal poses → plan a spill-free carry trajectory.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Problem — carry liquid from A to B without spilling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2C3E50"/>
                </a:solidFill>
                <a:latin typeface="Arial"/>
              </a:rPr>
              <a:t>Given a grasped mug, plan a 6-DoF end-effector trajectory that 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C3E50"/>
                </a:solidFill>
                <a:latin typeface="Arial"/>
              </a:rPr>
              <a:t>(a)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spill-free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(b)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obstacle-avoiding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(c)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smooth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(d)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tilt ≤ θmax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1097280"/>
          </a:xfrm>
          <a:prstGeom prst="roundRect">
            <a:avLst/>
          </a:prstGeom>
          <a:solidFill>
            <a:srgbClr val="FBECEB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2C3E50"/>
                </a:solidFill>
                <a:latin typeface="Arial"/>
              </a:rPr>
              <a:t>Even a perfectly upright cup spills</a:t>
            </a:r>
            <a:r>
              <a:rPr sz="1800" b="0">
                <a:solidFill>
                  <a:srgbClr val="2C3E50"/>
                </a:solidFill>
                <a:latin typeface="Arial"/>
              </a:rPr>
              <a:t> under a fast stop or turn — the danger is </a:t>
            </a:r>
            <a:r>
              <a:rPr sz="1800" b="1">
                <a:solidFill>
                  <a:srgbClr val="C0392B"/>
                </a:solidFill>
                <a:latin typeface="Arial"/>
              </a:rPr>
              <a:t>motion</a:t>
            </a:r>
            <a:r>
              <a:rPr sz="1800" b="0">
                <a:solidFill>
                  <a:srgbClr val="2C3E50"/>
                </a:solidFill>
                <a:latin typeface="Arial"/>
              </a:rPr>
              <a:t>, not just orientation.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66666"/>
                </a:solidFill>
                <a:latin typeface="Arial"/>
              </a:rPr>
              <a:t>Why? — next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Key insight — liquid follows effective gravity  g −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ill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539" y="1417320"/>
            <a:ext cx="8348617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A365D"/>
                </a:solidFill>
                <a:latin typeface="Arial"/>
              </a:rPr>
              <a:t>No-spill </a:t>
            </a:r>
            <a:r>
              <a:rPr sz="1400" b="0" i="0">
                <a:solidFill>
                  <a:srgbClr val="2C3E50"/>
                </a:solidFill>
                <a:latin typeface="Arial"/>
              </a:rPr>
              <a:t>⇔ the apparent-up vector  a_cup − g  stays inside the cup's </a:t>
            </a:r>
            <a:r>
              <a:rPr sz="1400" b="1" i="0">
                <a:solidFill>
                  <a:srgbClr val="2C3E50"/>
                </a:solidFill>
                <a:latin typeface="Arial"/>
              </a:rPr>
              <a:t>rim cone</a:t>
            </a:r>
            <a:r>
              <a:rPr sz="1400" b="0" i="0">
                <a:solidFill>
                  <a:srgbClr val="2C3E50"/>
                </a:solidFill>
                <a:latin typeface="Arial"/>
              </a:rPr>
              <a:t>  (half-angle θmax).  Acceleration is evaluated at the cup, not the wrist.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Why the grasp matters — it reshapes the spill margin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48" y="1371600"/>
            <a:ext cx="7067998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C3E50"/>
                </a:solidFill>
                <a:latin typeface="Arial"/>
              </a:rPr>
              <a:t>• The grasp fixes  T(hand→cup): </a:t>
            </a:r>
            <a:r>
              <a:rPr sz="1500" b="0" i="0">
                <a:solidFill>
                  <a:srgbClr val="2C3E50"/>
                </a:solidFill>
                <a:latin typeface="Arial"/>
              </a:rPr>
              <a:t>the cup's offset r and orientation relative to the wrist.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Same arm motion → different cup acceleration  a_cup  (lever effect) → different spill margin.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Plus arm reachability: some grasps keep the cup upright easily, others don't.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The two effects can conflict → </a:t>
            </a:r>
            <a:r>
              <a:rPr sz="1500" b="1" i="0">
                <a:solidFill>
                  <a:srgbClr val="A93226"/>
                </a:solidFill>
                <a:latin typeface="Arial"/>
              </a:rPr>
              <a:t>which grasp is safest is measured, not assumed</a:t>
            </a:r>
            <a:r>
              <a:rPr sz="1500" b="0" i="0">
                <a:solidFill>
                  <a:srgbClr val="2C3E50"/>
                </a:solidFill>
                <a:latin typeface="Arial"/>
              </a:rPr>
              <a:t>  (see Method).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Related work &amp; the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5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840480"/>
                <a:gridCol w="32918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Line of work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do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Anti-slosh / spill-free planning
(Muchacho '22, Gandhi '24)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spill-free trajectory for a fixed container pose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grasp is a fixed boundary condition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Waiter / non-prehensile
(Heins '23, Selvaggio '23)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keep object from tipping / sliding (friction cone)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rigid object, no liquid, no grasp choice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Affordance / task-oriented grasping
("Grasping for a Purpose" '14, Dang '12)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pick a task-appropriate grasp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stops at selection — never carries it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17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93226"/>
                </a:solidFill>
                <a:latin typeface="Arial"/>
              </a:rPr>
              <a:t>Nobody connects grasp choice to a physical spill margin. </a:t>
            </a:r>
            <a:r>
              <a:rPr sz="1600" b="0" i="0">
                <a:solidFill>
                  <a:srgbClr val="2C3E50"/>
                </a:solidFill>
                <a:latin typeface="Arial"/>
              </a:rPr>
              <a:t>We make the trajectory optimizer </a:t>
            </a:r>
            <a:r>
              <a:rPr sz="1600" b="1" i="0">
                <a:solidFill>
                  <a:srgbClr val="2C3E50"/>
                </a:solidFill>
                <a:latin typeface="Arial"/>
              </a:rPr>
              <a:t>score grasps</a:t>
            </a:r>
            <a:r>
              <a:rPr sz="1600" b="0" i="0">
                <a:solidFill>
                  <a:srgbClr val="2C3E50"/>
                </a:solidFill>
                <a:latin typeface="Arial"/>
              </a:rPr>
              <a:t> by how safely they carry.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spill-aware CHOMP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82" y="1417320"/>
            <a:ext cx="1065853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3434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A365D"/>
                </a:solidFill>
                <a:latin typeface="Arial"/>
              </a:rPr>
              <a:t>J(ξ) = J_smooth + J_obs + λₛ · J_spill</a:t>
            </a:r>
            <a:r>
              <a:rPr sz="1800" b="0" i="0">
                <a:solidFill>
                  <a:srgbClr val="2C3E50"/>
                </a:solidFill>
                <a:latin typeface="Arial"/>
              </a:rPr>
              <a:t>          ξ ← ξ − η A⁻¹ ∇J(ξ)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2C3E50"/>
                </a:solidFill>
                <a:latin typeface="Arial"/>
              </a:rPr>
              <a:t>Course CHOMP (Lecture 8) + </a:t>
            </a:r>
            <a:r>
              <a:rPr sz="1400" b="1" i="0">
                <a:solidFill>
                  <a:srgbClr val="A93226"/>
                </a:solidFill>
                <a:latin typeface="Arial"/>
              </a:rPr>
              <a:t>one differentiable spill term</a:t>
            </a:r>
            <a:r>
              <a:rPr sz="1400" b="0" i="0">
                <a:solidFill>
                  <a:srgbClr val="2C3E50"/>
                </a:solidFill>
                <a:latin typeface="Arial"/>
              </a:rPr>
              <a:t>.  a_cup comes from finite differences of ξ — the same operator as the smoothness term, so the spill gradient is analytic.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the optimizer as a grasp evaluator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eval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208" y="1417320"/>
            <a:ext cx="10165277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464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C3E50"/>
                </a:solidFill>
                <a:latin typeface="Arial"/>
              </a:rPr>
              <a:t>Run the same spill-aware planner </a:t>
            </a:r>
            <a:r>
              <a:rPr sz="1350" b="1" i="0">
                <a:solidFill>
                  <a:srgbClr val="1A365D"/>
                </a:solidFill>
                <a:latin typeface="Arial"/>
              </a:rPr>
              <a:t>per grasp</a:t>
            </a:r>
            <a:r>
              <a:rPr sz="1350" b="0" i="0">
                <a:solidFill>
                  <a:srgbClr val="2C3E50"/>
                </a:solidFill>
                <a:latin typeface="Arial"/>
              </a:rPr>
              <a:t> → each grasp gets an achievable spill-margin score; the optimizer becomes a downstream-aware </a:t>
            </a:r>
            <a:r>
              <a:rPr sz="1350" b="1" i="0">
                <a:solidFill>
                  <a:srgbClr val="A93226"/>
                </a:solidFill>
                <a:latin typeface="Arial"/>
              </a:rPr>
              <a:t>grasp evaluator</a:t>
            </a:r>
            <a:r>
              <a:rPr sz="1350" b="0" i="0">
                <a:solidFill>
                  <a:srgbClr val="2C3E50"/>
                </a:solidFill>
                <a:latin typeface="Arial"/>
              </a:rPr>
              <a:t>.  Future (thesis): feed that score back into grasp generation — closing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Evaluation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80" y="1371600"/>
            <a:ext cx="8342334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24528"/>
            <a:ext cx="110642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3-way ablation: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linear interp / CHOMP / CHOMP + spill — on a mug, with and without obstacles.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Metrics: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spill ratio, path length, smoothness (jerk), plan time; run across grasps to show the margin differs.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Demo: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SAPIEN particles on the liquid surface → count how many cross the rim.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Timeline: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implementation + ablation within ~1 week  (proposal 06-08 → report 06-15).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