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CF72C71-EDE2-4ABB-BB98-4C2D3C8B1792}">
  <a:tblStyle styleId="{CCF72C71-EDE2-4ABB-BB98-4C2D3C8B1792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38" d="100"/>
          <a:sy n="38" d="100"/>
        </p:scale>
        <p:origin x="68" y="4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2.png"/><Relationship Id="rId9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822960" y="2148840"/>
            <a:ext cx="10515600" cy="1554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A365D"/>
                </a:solidFill>
                <a:latin typeface="Arial"/>
                <a:ea typeface="Arial"/>
                <a:cs typeface="Arial"/>
                <a:sym typeface="Arial"/>
              </a:rPr>
              <a:t>Affordance-Grasp Conditioned</a:t>
            </a:r>
            <a:endParaRPr/>
          </a:p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A365D"/>
                </a:solidFill>
                <a:latin typeface="Arial"/>
                <a:ea typeface="Arial"/>
                <a:cs typeface="Arial"/>
                <a:sym typeface="Arial"/>
              </a:rPr>
              <a:t>Spill-Free Trajectory Optimization</a:t>
            </a:r>
            <a:endParaRPr/>
          </a:p>
        </p:txBody>
      </p:sp>
      <p:sp>
        <p:nvSpPr>
          <p:cNvPr id="85" name="Google Shape;85;p13"/>
          <p:cNvSpPr txBox="1"/>
          <p:nvPr/>
        </p:nvSpPr>
        <p:spPr>
          <a:xfrm>
            <a:off x="841248" y="379476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Does </a:t>
            </a:r>
            <a:r>
              <a:rPr lang="en-US" sz="2000" b="1" i="0" u="none" strike="noStrike" cap="none">
                <a:solidFill>
                  <a:srgbClr val="1A365D"/>
                </a:solidFill>
                <a:latin typeface="Arial"/>
                <a:ea typeface="Arial"/>
                <a:cs typeface="Arial"/>
                <a:sym typeface="Arial"/>
              </a:rPr>
              <a:t>how you grasp</a:t>
            </a:r>
            <a:r>
              <a:rPr lang="en-US" sz="2000" b="0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 a cup change </a:t>
            </a:r>
            <a:r>
              <a:rPr lang="en-US" sz="2000" b="1" i="0" u="none" strike="noStrike" cap="none">
                <a:solidFill>
                  <a:srgbClr val="1A365D"/>
                </a:solidFill>
                <a:latin typeface="Arial"/>
                <a:ea typeface="Arial"/>
                <a:cs typeface="Arial"/>
                <a:sym typeface="Arial"/>
              </a:rPr>
              <a:t>how safely you can carry</a:t>
            </a:r>
            <a:r>
              <a:rPr lang="en-US" sz="2000" b="0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 it?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841248" y="4572000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Jihoon Yun   ·   Motion Planning   ·   2026-06-08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/>
          <p:nvPr/>
        </p:nvSpPr>
        <p:spPr>
          <a:xfrm>
            <a:off x="502920" y="274320"/>
            <a:ext cx="1115568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A365D"/>
                </a:solidFill>
                <a:latin typeface="Arial"/>
                <a:ea typeface="Arial"/>
                <a:cs typeface="Arial"/>
                <a:sym typeface="Arial"/>
              </a:rPr>
              <a:t>My thesis picks the grasp — this project plans the carry</a:t>
            </a:r>
            <a:endParaRPr/>
          </a:p>
        </p:txBody>
      </p:sp>
      <p:sp>
        <p:nvSpPr>
          <p:cNvPr id="92" name="Google Shape;92;p14"/>
          <p:cNvSpPr/>
          <p:nvPr/>
        </p:nvSpPr>
        <p:spPr>
          <a:xfrm>
            <a:off x="548640" y="1115568"/>
            <a:ext cx="11064240" cy="27940"/>
          </a:xfrm>
          <a:prstGeom prst="rect">
            <a:avLst/>
          </a:prstGeom>
          <a:solidFill>
            <a:srgbClr val="CCCCCC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4"/>
          <p:cNvSpPr/>
          <p:nvPr/>
        </p:nvSpPr>
        <p:spPr>
          <a:xfrm>
            <a:off x="274320" y="1417320"/>
            <a:ext cx="6446400" cy="4526400"/>
          </a:xfrm>
          <a:prstGeom prst="roundRect">
            <a:avLst>
              <a:gd name="adj" fmla="val 16667"/>
            </a:avLst>
          </a:prstGeom>
          <a:solidFill>
            <a:srgbClr val="EEF4F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4"/>
          <p:cNvSpPr/>
          <p:nvPr/>
        </p:nvSpPr>
        <p:spPr>
          <a:xfrm>
            <a:off x="6903720" y="1417320"/>
            <a:ext cx="4983480" cy="4526280"/>
          </a:xfrm>
          <a:prstGeom prst="roundRect">
            <a:avLst>
              <a:gd name="adj" fmla="val 16667"/>
            </a:avLst>
          </a:prstGeom>
          <a:solidFill>
            <a:srgbClr val="FDF0E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4"/>
          <p:cNvSpPr txBox="1"/>
          <p:nvPr/>
        </p:nvSpPr>
        <p:spPr>
          <a:xfrm>
            <a:off x="411480" y="1517904"/>
            <a:ext cx="62178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1A365D"/>
                </a:solidFill>
                <a:latin typeface="Arial"/>
                <a:ea typeface="Arial"/>
                <a:cs typeface="Arial"/>
                <a:sym typeface="Arial"/>
              </a:rPr>
              <a:t>MY THESIS</a:t>
            </a:r>
            <a:r>
              <a:rPr lang="en-US" sz="1250" b="0" i="0" u="none" strike="noStrike" cap="none">
                <a:solidFill>
                  <a:srgbClr val="1A365D"/>
                </a:solidFill>
                <a:latin typeface="Arial"/>
                <a:ea typeface="Arial"/>
                <a:cs typeface="Arial"/>
                <a:sym typeface="Arial"/>
              </a:rPr>
              <a:t>  ·  Affordance &amp; taxonomy-aware grasp pose generation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6949440" y="1517904"/>
            <a:ext cx="48920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 i="0" u="none" strike="noStrike" cap="none">
                <a:solidFill>
                  <a:srgbClr val="A93226"/>
                </a:solidFill>
                <a:latin typeface="Arial"/>
                <a:ea typeface="Arial"/>
                <a:cs typeface="Arial"/>
                <a:sym typeface="Arial"/>
              </a:rPr>
              <a:t>THIS PROJECT  ·  spill-free carry (motion planning)</a:t>
            </a:r>
            <a:endParaRPr/>
          </a:p>
        </p:txBody>
      </p:sp>
      <p:sp>
        <p:nvSpPr>
          <p:cNvPr id="97" name="Google Shape;97;p14"/>
          <p:cNvSpPr/>
          <p:nvPr/>
        </p:nvSpPr>
        <p:spPr>
          <a:xfrm>
            <a:off x="548645" y="2603385"/>
            <a:ext cx="1554600" cy="640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 cap="flat" cmpd="sng">
            <a:solidFill>
              <a:srgbClr val="2C6FB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18275" rIns="45700" bIns="18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object</a:t>
            </a:r>
            <a:r>
              <a:rPr lang="en-US"/>
              <a:t> </a:t>
            </a:r>
            <a:r>
              <a:rPr lang="en-US" sz="1100" b="0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mesh             </a:t>
            </a:r>
            <a:endParaRPr/>
          </a:p>
        </p:txBody>
      </p:sp>
      <p:sp>
        <p:nvSpPr>
          <p:cNvPr id="98" name="Google Shape;98;p14"/>
          <p:cNvSpPr/>
          <p:nvPr/>
        </p:nvSpPr>
        <p:spPr>
          <a:xfrm>
            <a:off x="411475" y="4118825"/>
            <a:ext cx="1920300" cy="6453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 cap="flat" cmpd="sng">
            <a:solidFill>
              <a:srgbClr val="2C6FB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18275" rIns="45700" bIns="18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task </a:t>
            </a:r>
            <a:r>
              <a:rPr lang="en-US" sz="1100">
                <a:solidFill>
                  <a:srgbClr val="2C3E50"/>
                </a:solidFill>
              </a:rPr>
              <a:t>desciption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"pour" / "drink" / "hand over"</a:t>
            </a:r>
            <a:endParaRPr/>
          </a:p>
        </p:txBody>
      </p:sp>
      <p:sp>
        <p:nvSpPr>
          <p:cNvPr id="99" name="Google Shape;99;p14"/>
          <p:cNvSpPr/>
          <p:nvPr/>
        </p:nvSpPr>
        <p:spPr>
          <a:xfrm>
            <a:off x="2711205" y="3182100"/>
            <a:ext cx="1417200" cy="1188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 cap="flat" cmpd="sng">
            <a:solidFill>
              <a:srgbClr val="2C6FB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18275" rIns="45700" bIns="18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Grasp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generation</a:t>
            </a:r>
            <a:endParaRPr/>
          </a:p>
        </p:txBody>
      </p:sp>
      <p:cxnSp>
        <p:nvCxnSpPr>
          <p:cNvPr id="100" name="Google Shape;100;p14"/>
          <p:cNvCxnSpPr>
            <a:stCxn id="97" idx="3"/>
            <a:endCxn id="99" idx="1"/>
          </p:cNvCxnSpPr>
          <p:nvPr/>
        </p:nvCxnSpPr>
        <p:spPr>
          <a:xfrm>
            <a:off x="2103245" y="2923485"/>
            <a:ext cx="608100" cy="852900"/>
          </a:xfrm>
          <a:prstGeom prst="straightConnector1">
            <a:avLst/>
          </a:prstGeom>
          <a:noFill/>
          <a:ln w="22225" cap="flat" cmpd="sng">
            <a:solidFill>
              <a:srgbClr val="888888"/>
            </a:solidFill>
            <a:prstDash val="solid"/>
            <a:round/>
            <a:headEnd type="none" w="sm" len="sm"/>
            <a:tailEnd type="triangle" w="med" len="med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cxnSp>
        <p:nvCxnSpPr>
          <p:cNvPr id="101" name="Google Shape;101;p14"/>
          <p:cNvCxnSpPr>
            <a:stCxn id="98" idx="3"/>
            <a:endCxn id="99" idx="1"/>
          </p:cNvCxnSpPr>
          <p:nvPr/>
        </p:nvCxnSpPr>
        <p:spPr>
          <a:xfrm rot="10800000" flipH="1">
            <a:off x="2331775" y="3776375"/>
            <a:ext cx="379500" cy="665100"/>
          </a:xfrm>
          <a:prstGeom prst="straightConnector1">
            <a:avLst/>
          </a:prstGeom>
          <a:noFill/>
          <a:ln w="22225" cap="flat" cmpd="sng">
            <a:solidFill>
              <a:srgbClr val="888888"/>
            </a:solidFill>
            <a:prstDash val="solid"/>
            <a:round/>
            <a:headEnd type="none" w="sm" len="sm"/>
            <a:tailEnd type="triangle" w="med" len="med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pic>
        <p:nvPicPr>
          <p:cNvPr id="102" name="Google Shape;102;p14" descr="grasp_drinking_c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85730" y="2114597"/>
            <a:ext cx="1325880" cy="107626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3" name="Google Shape;103;p14"/>
          <p:cNvCxnSpPr>
            <a:stCxn id="99" idx="3"/>
            <a:endCxn id="102" idx="1"/>
          </p:cNvCxnSpPr>
          <p:nvPr/>
        </p:nvCxnSpPr>
        <p:spPr>
          <a:xfrm rot="10800000" flipH="1">
            <a:off x="4128405" y="2652600"/>
            <a:ext cx="457200" cy="1123800"/>
          </a:xfrm>
          <a:prstGeom prst="straightConnector1">
            <a:avLst/>
          </a:prstGeom>
          <a:noFill/>
          <a:ln w="17775" cap="flat" cmpd="sng">
            <a:solidFill>
              <a:srgbClr val="27865A"/>
            </a:solidFill>
            <a:prstDash val="solid"/>
            <a:round/>
            <a:headEnd type="none" w="sm" len="sm"/>
            <a:tailEnd type="triangle" w="med" len="med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sp>
        <p:nvSpPr>
          <p:cNvPr id="104" name="Google Shape;104;p14"/>
          <p:cNvSpPr txBox="1"/>
          <p:nvPr/>
        </p:nvSpPr>
        <p:spPr>
          <a:xfrm>
            <a:off x="5897880" y="2465688"/>
            <a:ext cx="9144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27865A"/>
                </a:solidFill>
                <a:latin typeface="Arial"/>
                <a:ea typeface="Arial"/>
                <a:cs typeface="Arial"/>
                <a:sym typeface="Arial"/>
              </a:rPr>
              <a:t>drink</a:t>
            </a:r>
            <a:endParaRPr/>
          </a:p>
        </p:txBody>
      </p:sp>
      <p:pic>
        <p:nvPicPr>
          <p:cNvPr id="105" name="Google Shape;105;p14" descr="grasp_pouring_c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85730" y="3276417"/>
            <a:ext cx="1325880" cy="131294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6" name="Google Shape;106;p14"/>
          <p:cNvCxnSpPr>
            <a:stCxn id="99" idx="3"/>
            <a:endCxn id="105" idx="1"/>
          </p:cNvCxnSpPr>
          <p:nvPr/>
        </p:nvCxnSpPr>
        <p:spPr>
          <a:xfrm>
            <a:off x="4128405" y="3776400"/>
            <a:ext cx="457200" cy="156600"/>
          </a:xfrm>
          <a:prstGeom prst="straightConnector1">
            <a:avLst/>
          </a:prstGeom>
          <a:noFill/>
          <a:ln w="17775" cap="flat" cmpd="sng">
            <a:solidFill>
              <a:srgbClr val="2C6FBB"/>
            </a:solidFill>
            <a:prstDash val="solid"/>
            <a:round/>
            <a:headEnd type="none" w="sm" len="sm"/>
            <a:tailEnd type="triangle" w="med" len="med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sp>
        <p:nvSpPr>
          <p:cNvPr id="107" name="Google Shape;107;p14"/>
          <p:cNvSpPr txBox="1"/>
          <p:nvPr/>
        </p:nvSpPr>
        <p:spPr>
          <a:xfrm>
            <a:off x="5897880" y="3721410"/>
            <a:ext cx="9144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2C6FBB"/>
                </a:solidFill>
                <a:latin typeface="Arial"/>
                <a:ea typeface="Arial"/>
                <a:cs typeface="Arial"/>
                <a:sym typeface="Arial"/>
              </a:rPr>
              <a:t>pour</a:t>
            </a:r>
            <a:endParaRPr/>
          </a:p>
        </p:txBody>
      </p:sp>
      <p:pic>
        <p:nvPicPr>
          <p:cNvPr id="108" name="Google Shape;108;p14" descr="grasp_handover_c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585730" y="4631154"/>
            <a:ext cx="1325880" cy="116379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9" name="Google Shape;109;p14"/>
          <p:cNvCxnSpPr>
            <a:stCxn id="99" idx="3"/>
            <a:endCxn id="108" idx="1"/>
          </p:cNvCxnSpPr>
          <p:nvPr/>
        </p:nvCxnSpPr>
        <p:spPr>
          <a:xfrm>
            <a:off x="4128405" y="3776400"/>
            <a:ext cx="457200" cy="1436700"/>
          </a:xfrm>
          <a:prstGeom prst="straightConnector1">
            <a:avLst/>
          </a:prstGeom>
          <a:noFill/>
          <a:ln w="17775" cap="flat" cmpd="sng">
            <a:solidFill>
              <a:srgbClr val="8E44AD"/>
            </a:solidFill>
            <a:prstDash val="solid"/>
            <a:round/>
            <a:headEnd type="none" w="sm" len="sm"/>
            <a:tailEnd type="triangle" w="med" len="med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sp>
        <p:nvSpPr>
          <p:cNvPr id="110" name="Google Shape;110;p14"/>
          <p:cNvSpPr txBox="1"/>
          <p:nvPr/>
        </p:nvSpPr>
        <p:spPr>
          <a:xfrm>
            <a:off x="5875030" y="4977095"/>
            <a:ext cx="9144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8E44AD"/>
                </a:solidFill>
                <a:latin typeface="Arial"/>
                <a:ea typeface="Arial"/>
                <a:cs typeface="Arial"/>
                <a:sym typeface="Arial"/>
              </a:rPr>
              <a:t>hand-over</a:t>
            </a:r>
            <a:endParaRPr/>
          </a:p>
        </p:txBody>
      </p:sp>
      <p:sp>
        <p:nvSpPr>
          <p:cNvPr id="111" name="Google Shape;111;p14"/>
          <p:cNvSpPr/>
          <p:nvPr/>
        </p:nvSpPr>
        <p:spPr>
          <a:xfrm>
            <a:off x="7791064" y="2221850"/>
            <a:ext cx="3208800" cy="640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 cap="flat" cmpd="sng">
            <a:solidFill>
              <a:srgbClr val="A9322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18275" rIns="45700" bIns="18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grasp pose  +  start &amp; goal EE poses</a:t>
            </a:r>
            <a:endParaRPr/>
          </a:p>
        </p:txBody>
      </p:sp>
      <p:cxnSp>
        <p:nvCxnSpPr>
          <p:cNvPr id="112" name="Google Shape;112;p14"/>
          <p:cNvCxnSpPr/>
          <p:nvPr/>
        </p:nvCxnSpPr>
        <p:spPr>
          <a:xfrm>
            <a:off x="9390888" y="2880360"/>
            <a:ext cx="0" cy="301752"/>
          </a:xfrm>
          <a:prstGeom prst="straightConnector1">
            <a:avLst/>
          </a:prstGeom>
          <a:noFill/>
          <a:ln w="22225" cap="flat" cmpd="sng">
            <a:solidFill>
              <a:srgbClr val="888888"/>
            </a:solidFill>
            <a:prstDash val="solid"/>
            <a:round/>
            <a:headEnd type="none" w="sm" len="sm"/>
            <a:tailEnd type="triangle" w="med" len="med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sp>
        <p:nvSpPr>
          <p:cNvPr id="113" name="Google Shape;113;p14"/>
          <p:cNvSpPr/>
          <p:nvPr/>
        </p:nvSpPr>
        <p:spPr>
          <a:xfrm>
            <a:off x="7543800" y="3200400"/>
            <a:ext cx="3703320" cy="868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 cap="flat" cmpd="sng">
            <a:solidFill>
              <a:srgbClr val="C0392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18275" rIns="45700" bIns="18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Spill-free trajectory optimization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(CHOMP + spill cost)</a:t>
            </a:r>
            <a:endParaRPr/>
          </a:p>
        </p:txBody>
      </p:sp>
      <p:cxnSp>
        <p:nvCxnSpPr>
          <p:cNvPr id="114" name="Google Shape;114;p14"/>
          <p:cNvCxnSpPr/>
          <p:nvPr/>
        </p:nvCxnSpPr>
        <p:spPr>
          <a:xfrm>
            <a:off x="9390888" y="4069080"/>
            <a:ext cx="0" cy="301752"/>
          </a:xfrm>
          <a:prstGeom prst="straightConnector1">
            <a:avLst/>
          </a:prstGeom>
          <a:noFill/>
          <a:ln w="22225" cap="flat" cmpd="sng">
            <a:solidFill>
              <a:srgbClr val="888888"/>
            </a:solidFill>
            <a:prstDash val="solid"/>
            <a:round/>
            <a:headEnd type="none" w="sm" len="sm"/>
            <a:tailEnd type="triangle" w="med" len="med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cxnSp>
        <p:nvCxnSpPr>
          <p:cNvPr id="115" name="Google Shape;115;p14"/>
          <p:cNvCxnSpPr/>
          <p:nvPr/>
        </p:nvCxnSpPr>
        <p:spPr>
          <a:xfrm rot="10800000" flipH="1">
            <a:off x="8092440" y="5316928"/>
            <a:ext cx="162877" cy="169472"/>
          </a:xfrm>
          <a:prstGeom prst="straightConnector1">
            <a:avLst/>
          </a:prstGeom>
          <a:noFill/>
          <a:ln w="33000" cap="flat" cmpd="sng">
            <a:solidFill>
              <a:srgbClr val="C0392B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cxnSp>
        <p:nvCxnSpPr>
          <p:cNvPr id="116" name="Google Shape;116;p14"/>
          <p:cNvCxnSpPr/>
          <p:nvPr/>
        </p:nvCxnSpPr>
        <p:spPr>
          <a:xfrm rot="10800000" flipH="1">
            <a:off x="8255317" y="5153970"/>
            <a:ext cx="162877" cy="162958"/>
          </a:xfrm>
          <a:prstGeom prst="straightConnector1">
            <a:avLst/>
          </a:prstGeom>
          <a:noFill/>
          <a:ln w="33000" cap="flat" cmpd="sng">
            <a:solidFill>
              <a:srgbClr val="C0392B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cxnSp>
        <p:nvCxnSpPr>
          <p:cNvPr id="117" name="Google Shape;117;p14"/>
          <p:cNvCxnSpPr/>
          <p:nvPr/>
        </p:nvCxnSpPr>
        <p:spPr>
          <a:xfrm rot="10800000" flipH="1">
            <a:off x="8418194" y="5003787"/>
            <a:ext cx="162878" cy="150183"/>
          </a:xfrm>
          <a:prstGeom prst="straightConnector1">
            <a:avLst/>
          </a:prstGeom>
          <a:noFill/>
          <a:ln w="33000" cap="flat" cmpd="sng">
            <a:solidFill>
              <a:srgbClr val="C0392B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cxnSp>
        <p:nvCxnSpPr>
          <p:cNvPr id="118" name="Google Shape;118;p14"/>
          <p:cNvCxnSpPr/>
          <p:nvPr/>
        </p:nvCxnSpPr>
        <p:spPr>
          <a:xfrm rot="10800000" flipH="1">
            <a:off x="8581072" y="4872150"/>
            <a:ext cx="162878" cy="131637"/>
          </a:xfrm>
          <a:prstGeom prst="straightConnector1">
            <a:avLst/>
          </a:prstGeom>
          <a:noFill/>
          <a:ln w="33000" cap="flat" cmpd="sng">
            <a:solidFill>
              <a:srgbClr val="C0392B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cxnSp>
        <p:nvCxnSpPr>
          <p:cNvPr id="119" name="Google Shape;119;p14"/>
          <p:cNvCxnSpPr/>
          <p:nvPr/>
        </p:nvCxnSpPr>
        <p:spPr>
          <a:xfrm rot="10800000" flipH="1">
            <a:off x="8743950" y="4764118"/>
            <a:ext cx="162877" cy="108032"/>
          </a:xfrm>
          <a:prstGeom prst="straightConnector1">
            <a:avLst/>
          </a:prstGeom>
          <a:noFill/>
          <a:ln w="33000" cap="flat" cmpd="sng">
            <a:solidFill>
              <a:srgbClr val="C0392B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cxnSp>
        <p:nvCxnSpPr>
          <p:cNvPr id="120" name="Google Shape;120;p14"/>
          <p:cNvCxnSpPr/>
          <p:nvPr/>
        </p:nvCxnSpPr>
        <p:spPr>
          <a:xfrm rot="10800000" flipH="1">
            <a:off x="8906827" y="4683844"/>
            <a:ext cx="162878" cy="80274"/>
          </a:xfrm>
          <a:prstGeom prst="straightConnector1">
            <a:avLst/>
          </a:prstGeom>
          <a:noFill/>
          <a:ln w="33000" cap="flat" cmpd="sng">
            <a:solidFill>
              <a:srgbClr val="C0392B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cxnSp>
        <p:nvCxnSpPr>
          <p:cNvPr id="121" name="Google Shape;121;p14"/>
          <p:cNvCxnSpPr/>
          <p:nvPr/>
        </p:nvCxnSpPr>
        <p:spPr>
          <a:xfrm rot="10800000" flipH="1">
            <a:off x="9069705" y="4634411"/>
            <a:ext cx="162877" cy="49433"/>
          </a:xfrm>
          <a:prstGeom prst="straightConnector1">
            <a:avLst/>
          </a:prstGeom>
          <a:noFill/>
          <a:ln w="33000" cap="flat" cmpd="sng">
            <a:solidFill>
              <a:srgbClr val="C0392B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cxnSp>
        <p:nvCxnSpPr>
          <p:cNvPr id="122" name="Google Shape;122;p14"/>
          <p:cNvCxnSpPr/>
          <p:nvPr/>
        </p:nvCxnSpPr>
        <p:spPr>
          <a:xfrm rot="10800000" flipH="1">
            <a:off x="9232582" y="4617720"/>
            <a:ext cx="162877" cy="16691"/>
          </a:xfrm>
          <a:prstGeom prst="straightConnector1">
            <a:avLst/>
          </a:prstGeom>
          <a:noFill/>
          <a:ln w="33000" cap="flat" cmpd="sng">
            <a:solidFill>
              <a:srgbClr val="C0392B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cxnSp>
        <p:nvCxnSpPr>
          <p:cNvPr id="123" name="Google Shape;123;p14"/>
          <p:cNvCxnSpPr/>
          <p:nvPr/>
        </p:nvCxnSpPr>
        <p:spPr>
          <a:xfrm>
            <a:off x="9395459" y="4617720"/>
            <a:ext cx="162878" cy="16691"/>
          </a:xfrm>
          <a:prstGeom prst="straightConnector1">
            <a:avLst/>
          </a:prstGeom>
          <a:noFill/>
          <a:ln w="33000" cap="flat" cmpd="sng">
            <a:solidFill>
              <a:srgbClr val="C0392B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cxnSp>
        <p:nvCxnSpPr>
          <p:cNvPr id="124" name="Google Shape;124;p14"/>
          <p:cNvCxnSpPr/>
          <p:nvPr/>
        </p:nvCxnSpPr>
        <p:spPr>
          <a:xfrm>
            <a:off x="9558337" y="4634411"/>
            <a:ext cx="162878" cy="49433"/>
          </a:xfrm>
          <a:prstGeom prst="straightConnector1">
            <a:avLst/>
          </a:prstGeom>
          <a:noFill/>
          <a:ln w="33000" cap="flat" cmpd="sng">
            <a:solidFill>
              <a:srgbClr val="C0392B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cxnSp>
        <p:nvCxnSpPr>
          <p:cNvPr id="125" name="Google Shape;125;p14"/>
          <p:cNvCxnSpPr/>
          <p:nvPr/>
        </p:nvCxnSpPr>
        <p:spPr>
          <a:xfrm>
            <a:off x="9721215" y="4683844"/>
            <a:ext cx="162877" cy="80274"/>
          </a:xfrm>
          <a:prstGeom prst="straightConnector1">
            <a:avLst/>
          </a:prstGeom>
          <a:noFill/>
          <a:ln w="33000" cap="flat" cmpd="sng">
            <a:solidFill>
              <a:srgbClr val="C0392B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cxnSp>
        <p:nvCxnSpPr>
          <p:cNvPr id="126" name="Google Shape;126;p14"/>
          <p:cNvCxnSpPr/>
          <p:nvPr/>
        </p:nvCxnSpPr>
        <p:spPr>
          <a:xfrm>
            <a:off x="9884092" y="4764118"/>
            <a:ext cx="162877" cy="108032"/>
          </a:xfrm>
          <a:prstGeom prst="straightConnector1">
            <a:avLst/>
          </a:prstGeom>
          <a:noFill/>
          <a:ln w="33000" cap="flat" cmpd="sng">
            <a:solidFill>
              <a:srgbClr val="C0392B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cxnSp>
        <p:nvCxnSpPr>
          <p:cNvPr id="127" name="Google Shape;127;p14"/>
          <p:cNvCxnSpPr/>
          <p:nvPr/>
        </p:nvCxnSpPr>
        <p:spPr>
          <a:xfrm>
            <a:off x="10046969" y="4872150"/>
            <a:ext cx="162878" cy="131637"/>
          </a:xfrm>
          <a:prstGeom prst="straightConnector1">
            <a:avLst/>
          </a:prstGeom>
          <a:noFill/>
          <a:ln w="33000" cap="flat" cmpd="sng">
            <a:solidFill>
              <a:srgbClr val="C0392B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cxnSp>
        <p:nvCxnSpPr>
          <p:cNvPr id="128" name="Google Shape;128;p14"/>
          <p:cNvCxnSpPr/>
          <p:nvPr/>
        </p:nvCxnSpPr>
        <p:spPr>
          <a:xfrm>
            <a:off x="10209847" y="5003787"/>
            <a:ext cx="162878" cy="150183"/>
          </a:xfrm>
          <a:prstGeom prst="straightConnector1">
            <a:avLst/>
          </a:prstGeom>
          <a:noFill/>
          <a:ln w="33000" cap="flat" cmpd="sng">
            <a:solidFill>
              <a:srgbClr val="C0392B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cxnSp>
        <p:nvCxnSpPr>
          <p:cNvPr id="129" name="Google Shape;129;p14"/>
          <p:cNvCxnSpPr/>
          <p:nvPr/>
        </p:nvCxnSpPr>
        <p:spPr>
          <a:xfrm>
            <a:off x="10372725" y="5153970"/>
            <a:ext cx="162877" cy="162958"/>
          </a:xfrm>
          <a:prstGeom prst="straightConnector1">
            <a:avLst/>
          </a:prstGeom>
          <a:noFill/>
          <a:ln w="33000" cap="flat" cmpd="sng">
            <a:solidFill>
              <a:srgbClr val="C0392B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cxnSp>
        <p:nvCxnSpPr>
          <p:cNvPr id="130" name="Google Shape;130;p14"/>
          <p:cNvCxnSpPr/>
          <p:nvPr/>
        </p:nvCxnSpPr>
        <p:spPr>
          <a:xfrm>
            <a:off x="10535602" y="5316928"/>
            <a:ext cx="162878" cy="169472"/>
          </a:xfrm>
          <a:prstGeom prst="straightConnector1">
            <a:avLst/>
          </a:prstGeom>
          <a:noFill/>
          <a:ln w="33000" cap="flat" cmpd="sng">
            <a:solidFill>
              <a:srgbClr val="C0392B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sp>
        <p:nvSpPr>
          <p:cNvPr id="131" name="Google Shape;131;p14"/>
          <p:cNvSpPr/>
          <p:nvPr/>
        </p:nvSpPr>
        <p:spPr>
          <a:xfrm>
            <a:off x="8010144" y="5404104"/>
            <a:ext cx="164592" cy="164592"/>
          </a:xfrm>
          <a:prstGeom prst="ellipse">
            <a:avLst/>
          </a:prstGeom>
          <a:solidFill>
            <a:srgbClr val="27865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4"/>
          <p:cNvSpPr/>
          <p:nvPr/>
        </p:nvSpPr>
        <p:spPr>
          <a:xfrm>
            <a:off x="10616184" y="5404104"/>
            <a:ext cx="164592" cy="164592"/>
          </a:xfrm>
          <a:prstGeom prst="ellipse">
            <a:avLst/>
          </a:prstGeom>
          <a:solidFill>
            <a:srgbClr val="1A365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4"/>
          <p:cNvSpPr txBox="1"/>
          <p:nvPr/>
        </p:nvSpPr>
        <p:spPr>
          <a:xfrm>
            <a:off x="7772400" y="5559552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27865A"/>
                </a:solidFill>
                <a:latin typeface="Arial"/>
                <a:ea typeface="Arial"/>
                <a:cs typeface="Arial"/>
                <a:sym typeface="Arial"/>
              </a:rPr>
              <a:t>start</a:t>
            </a:r>
            <a:endParaRPr/>
          </a:p>
        </p:txBody>
      </p:sp>
      <p:sp>
        <p:nvSpPr>
          <p:cNvPr id="134" name="Google Shape;134;p14"/>
          <p:cNvSpPr txBox="1"/>
          <p:nvPr/>
        </p:nvSpPr>
        <p:spPr>
          <a:xfrm>
            <a:off x="10378440" y="5559552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1A365D"/>
                </a:solidFill>
                <a:latin typeface="Arial"/>
                <a:ea typeface="Arial"/>
                <a:cs typeface="Arial"/>
                <a:sym typeface="Arial"/>
              </a:rPr>
              <a:t>goal</a:t>
            </a:r>
            <a:endParaRPr/>
          </a:p>
        </p:txBody>
      </p:sp>
      <p:sp>
        <p:nvSpPr>
          <p:cNvPr id="135" name="Google Shape;135;p14"/>
          <p:cNvSpPr txBox="1"/>
          <p:nvPr/>
        </p:nvSpPr>
        <p:spPr>
          <a:xfrm>
            <a:off x="7132320" y="5623560"/>
            <a:ext cx="45262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A93226"/>
                </a:solidFill>
                <a:latin typeface="Arial"/>
                <a:ea typeface="Arial"/>
                <a:cs typeface="Arial"/>
                <a:sym typeface="Arial"/>
              </a:rPr>
              <a:t>no-spill SE(3) carry trajectory</a:t>
            </a:r>
            <a:endParaRPr/>
          </a:p>
        </p:txBody>
      </p:sp>
      <p:sp>
        <p:nvSpPr>
          <p:cNvPr id="136" name="Google Shape;136;p14"/>
          <p:cNvSpPr txBox="1"/>
          <p:nvPr/>
        </p:nvSpPr>
        <p:spPr>
          <a:xfrm>
            <a:off x="11612880" y="640080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cxnSp>
        <p:nvCxnSpPr>
          <p:cNvPr id="137" name="Google Shape;137;p14"/>
          <p:cNvCxnSpPr>
            <a:stCxn id="107" idx="1"/>
          </p:cNvCxnSpPr>
          <p:nvPr/>
        </p:nvCxnSpPr>
        <p:spPr>
          <a:xfrm rot="10800000" flipH="1">
            <a:off x="5897880" y="2600910"/>
            <a:ext cx="2155200" cy="1251300"/>
          </a:xfrm>
          <a:prstGeom prst="straightConnector1">
            <a:avLst/>
          </a:prstGeom>
          <a:noFill/>
          <a:ln w="31750" cap="flat" cmpd="sng">
            <a:solidFill>
              <a:srgbClr val="1A365D"/>
            </a:solidFill>
            <a:prstDash val="solid"/>
            <a:round/>
            <a:headEnd type="none" w="sm" len="sm"/>
            <a:tailEnd type="triangle" w="med" len="med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pic>
        <p:nvPicPr>
          <p:cNvPr id="138" name="Google Shape;138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437090" y="2672015"/>
            <a:ext cx="603510" cy="5029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9" name="Google Shape;139;p14"/>
          <p:cNvCxnSpPr>
            <a:stCxn id="93" idx="2"/>
            <a:endCxn id="140" idx="1"/>
          </p:cNvCxnSpPr>
          <p:nvPr/>
        </p:nvCxnSpPr>
        <p:spPr>
          <a:xfrm>
            <a:off x="3497520" y="5943720"/>
            <a:ext cx="1378500" cy="504900"/>
          </a:xfrm>
          <a:prstGeom prst="straightConnector1">
            <a:avLst/>
          </a:prstGeom>
          <a:noFill/>
          <a:ln w="31750" cap="flat" cmpd="sng">
            <a:solidFill>
              <a:srgbClr val="1A365D"/>
            </a:solidFill>
            <a:prstDash val="solid"/>
            <a:round/>
            <a:headEnd type="none" w="sm" len="sm"/>
            <a:tailEnd type="triangle" w="med" len="med"/>
          </a:ln>
          <a:effectLst>
            <a:outerShdw blurRad="40000" dist="20000" dir="5400000" rotWithShape="0">
              <a:srgbClr val="000000">
                <a:alpha val="38040"/>
              </a:srgbClr>
            </a:outerShdw>
          </a:effectLst>
        </p:spPr>
      </p:cxnSp>
      <p:cxnSp>
        <p:nvCxnSpPr>
          <p:cNvPr id="141" name="Google Shape;141;p14"/>
          <p:cNvCxnSpPr>
            <a:stCxn id="135" idx="2"/>
            <a:endCxn id="140" idx="3"/>
          </p:cNvCxnSpPr>
          <p:nvPr/>
        </p:nvCxnSpPr>
        <p:spPr>
          <a:xfrm flipH="1">
            <a:off x="8010060" y="5943600"/>
            <a:ext cx="1385400" cy="504900"/>
          </a:xfrm>
          <a:prstGeom prst="straightConnector1">
            <a:avLst/>
          </a:prstGeom>
          <a:noFill/>
          <a:ln w="31750" cap="flat" cmpd="sng">
            <a:solidFill>
              <a:srgbClr val="1A365D"/>
            </a:solidFill>
            <a:prstDash val="solid"/>
            <a:round/>
            <a:headEnd type="none" w="sm" len="sm"/>
            <a:tailEnd type="triangle" w="med" len="med"/>
          </a:ln>
          <a:effectLst>
            <a:outerShdw blurRad="40000" dist="20000" dir="5400000" rotWithShape="0">
              <a:srgbClr val="000000">
                <a:alpha val="38040"/>
              </a:srgbClr>
            </a:outerShdw>
          </a:effectLst>
        </p:spPr>
      </p:cxnSp>
      <p:sp>
        <p:nvSpPr>
          <p:cNvPr id="140" name="Google Shape;140;p14"/>
          <p:cNvSpPr/>
          <p:nvPr/>
        </p:nvSpPr>
        <p:spPr>
          <a:xfrm>
            <a:off x="4876050" y="6125975"/>
            <a:ext cx="3134100" cy="6453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 cap="flat" cmpd="sng">
            <a:solidFill>
              <a:srgbClr val="C0392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18275" rIns="45700" bIns="18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>
                <a:solidFill>
                  <a:srgbClr val="2C3E50"/>
                </a:solidFill>
              </a:rPr>
              <a:t>Motion-aware grasp generator</a:t>
            </a:r>
            <a:endParaRPr/>
          </a:p>
        </p:txBody>
      </p:sp>
      <p:pic>
        <p:nvPicPr>
          <p:cNvPr id="142" name="Google Shape;142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279315" y="4754865"/>
            <a:ext cx="603510" cy="502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797568">
            <a:off x="9093703" y="4407415"/>
            <a:ext cx="603510" cy="502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902173">
            <a:off x="9952790" y="4740840"/>
            <a:ext cx="603510" cy="502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5"/>
          <p:cNvSpPr txBox="1"/>
          <p:nvPr/>
        </p:nvSpPr>
        <p:spPr>
          <a:xfrm>
            <a:off x="502920" y="274320"/>
            <a:ext cx="1115568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A365D"/>
                </a:solidFill>
                <a:latin typeface="Arial"/>
                <a:ea typeface="Arial"/>
                <a:cs typeface="Arial"/>
                <a:sym typeface="Arial"/>
              </a:rPr>
              <a:t>Problem — carry liquid from A to B without spilling</a:t>
            </a:r>
            <a:endParaRPr/>
          </a:p>
        </p:txBody>
      </p:sp>
      <p:sp>
        <p:nvSpPr>
          <p:cNvPr id="150" name="Google Shape;150;p15"/>
          <p:cNvSpPr/>
          <p:nvPr/>
        </p:nvSpPr>
        <p:spPr>
          <a:xfrm>
            <a:off x="548640" y="1115568"/>
            <a:ext cx="11064240" cy="27940"/>
          </a:xfrm>
          <a:prstGeom prst="rect">
            <a:avLst/>
          </a:prstGeom>
          <a:solidFill>
            <a:srgbClr val="CCCCCC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5"/>
          <p:cNvSpPr txBox="1"/>
          <p:nvPr/>
        </p:nvSpPr>
        <p:spPr>
          <a:xfrm>
            <a:off x="640080" y="146304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0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Given a grasped mug, plan a 6-DoF end-effector trajectory that is:</a:t>
            </a:r>
            <a:endParaRPr/>
          </a:p>
        </p:txBody>
      </p:sp>
      <p:sp>
        <p:nvSpPr>
          <p:cNvPr id="152" name="Google Shape;152;p15"/>
          <p:cNvSpPr txBox="1"/>
          <p:nvPr/>
        </p:nvSpPr>
        <p:spPr>
          <a:xfrm>
            <a:off x="822968" y="1920245"/>
            <a:ext cx="10515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(a) </a:t>
            </a:r>
            <a:r>
              <a:rPr lang="en-US" sz="1800" b="0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spill-free      </a:t>
            </a:r>
            <a:r>
              <a:rPr lang="en-US" sz="1800" b="1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(b) </a:t>
            </a:r>
            <a:r>
              <a:rPr lang="en-US" sz="1800" b="0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obstacle-avoiding      </a:t>
            </a:r>
            <a:r>
              <a:rPr lang="en-US" sz="1800" b="1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(c) </a:t>
            </a:r>
            <a:r>
              <a:rPr lang="en-US" sz="1800" b="0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smooth</a:t>
            </a:r>
            <a:endParaRPr/>
          </a:p>
        </p:txBody>
      </p:sp>
      <p:sp>
        <p:nvSpPr>
          <p:cNvPr id="153" name="Google Shape;153;p15"/>
          <p:cNvSpPr txBox="1"/>
          <p:nvPr/>
        </p:nvSpPr>
        <p:spPr>
          <a:xfrm>
            <a:off x="11612880" y="640080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pic>
        <p:nvPicPr>
          <p:cNvPr id="154" name="Google Shape;154;p15" descr="spill_con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77625" y="2568325"/>
            <a:ext cx="8112977" cy="39098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5"/>
          <p:cNvSpPr txBox="1"/>
          <p:nvPr/>
        </p:nvSpPr>
        <p:spPr>
          <a:xfrm>
            <a:off x="2640232" y="6406915"/>
            <a:ext cx="10972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1A365D"/>
                </a:solidFill>
                <a:latin typeface="Arial"/>
                <a:ea typeface="Arial"/>
                <a:cs typeface="Arial"/>
                <a:sym typeface="Arial"/>
              </a:rPr>
              <a:t>No-spill </a:t>
            </a:r>
            <a:r>
              <a:rPr lang="en-US" sz="1400" b="0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⇔ the apparent-up vector  a_cup − g  stays inside the cup's </a:t>
            </a:r>
            <a:r>
              <a:rPr lang="en-US" sz="1400" b="1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rim cone</a:t>
            </a:r>
            <a:r>
              <a:rPr lang="en-US" sz="1400" b="0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6"/>
          <p:cNvSpPr txBox="1"/>
          <p:nvPr/>
        </p:nvSpPr>
        <p:spPr>
          <a:xfrm>
            <a:off x="502920" y="274320"/>
            <a:ext cx="1115568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 dirty="0">
                <a:solidFill>
                  <a:srgbClr val="1A365D"/>
                </a:solidFill>
                <a:latin typeface="Arial"/>
                <a:ea typeface="Arial"/>
                <a:cs typeface="Arial"/>
                <a:sym typeface="Arial"/>
              </a:rPr>
              <a:t>Why the grasp matters — it reshapes the spill margin</a:t>
            </a:r>
            <a:endParaRPr dirty="0"/>
          </a:p>
        </p:txBody>
      </p:sp>
      <p:sp>
        <p:nvSpPr>
          <p:cNvPr id="161" name="Google Shape;161;p16"/>
          <p:cNvSpPr/>
          <p:nvPr/>
        </p:nvSpPr>
        <p:spPr>
          <a:xfrm>
            <a:off x="548640" y="1115568"/>
            <a:ext cx="11064240" cy="27940"/>
          </a:xfrm>
          <a:prstGeom prst="rect">
            <a:avLst/>
          </a:prstGeom>
          <a:solidFill>
            <a:srgbClr val="CCCCCC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6"/>
          <p:cNvSpPr txBox="1"/>
          <p:nvPr/>
        </p:nvSpPr>
        <p:spPr>
          <a:xfrm>
            <a:off x="1903680" y="4777105"/>
            <a:ext cx="11064300" cy="1419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39700"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</a:pPr>
            <a:r>
              <a:rPr lang="en-US" sz="1500" dirty="0">
                <a:solidFill>
                  <a:srgbClr val="2C3E50"/>
                </a:solidFill>
              </a:rPr>
              <a:t>1. Different spill margin</a:t>
            </a:r>
            <a:endParaRPr sz="1500" dirty="0">
              <a:solidFill>
                <a:srgbClr val="2C3E50"/>
              </a:solidFill>
            </a:endParaRPr>
          </a:p>
          <a:p>
            <a:pPr marL="0" marR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 Same arm motion </a:t>
            </a:r>
            <a:r>
              <a:rPr lang="en-US" sz="1500" dirty="0">
                <a:solidFill>
                  <a:srgbClr val="2C3E50"/>
                </a:solidFill>
              </a:rPr>
              <a:t>/</a:t>
            </a:r>
            <a:r>
              <a:rPr lang="en-US" sz="1500" b="0" i="0" u="none" strike="noStrike" cap="none" dirty="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 different </a:t>
            </a:r>
            <a:r>
              <a:rPr lang="en-US" sz="1500" dirty="0">
                <a:solidFill>
                  <a:srgbClr val="2C3E50"/>
                </a:solidFill>
              </a:rPr>
              <a:t>grasp → </a:t>
            </a:r>
            <a:r>
              <a:rPr lang="en-US" dirty="0"/>
              <a:t>different</a:t>
            </a:r>
            <a:r>
              <a:rPr lang="en-US" sz="1500" dirty="0">
                <a:solidFill>
                  <a:srgbClr val="2C3E50"/>
                </a:solidFill>
              </a:rPr>
              <a:t> </a:t>
            </a:r>
            <a:r>
              <a:rPr lang="en-US" sz="1500" b="0" i="0" u="none" strike="noStrike" cap="none" dirty="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cup acceleration → different spill margin.</a:t>
            </a:r>
          </a:p>
          <a:p>
            <a:pPr marL="0" marR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ko-KR" altLang="en-US" sz="1500" dirty="0">
              <a:solidFill>
                <a:srgbClr val="2C3E50"/>
              </a:solidFill>
            </a:endParaRPr>
          </a:p>
          <a:p>
            <a:pPr marL="133350"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500"/>
            </a:pPr>
            <a:r>
              <a:rPr lang="en-US" sz="1500" dirty="0">
                <a:solidFill>
                  <a:srgbClr val="2C3E50"/>
                </a:solidFill>
              </a:rPr>
              <a:t>2. Different a</a:t>
            </a:r>
            <a:r>
              <a:rPr lang="en-US" sz="1500" b="0" i="0" u="none" strike="noStrike" cap="none" dirty="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rm reachability</a:t>
            </a:r>
            <a:endParaRPr lang="en-US" sz="1500" dirty="0">
              <a:solidFill>
                <a:srgbClr val="2C3E50"/>
              </a:solidFill>
            </a:endParaRPr>
          </a:p>
          <a:p>
            <a:pPr marL="0" marR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some grasps keep the cup upright easily, others don't.</a:t>
            </a:r>
            <a:endParaRPr dirty="0"/>
          </a:p>
        </p:txBody>
      </p:sp>
      <p:sp>
        <p:nvSpPr>
          <p:cNvPr id="163" name="Google Shape;163;p16"/>
          <p:cNvSpPr txBox="1"/>
          <p:nvPr/>
        </p:nvSpPr>
        <p:spPr>
          <a:xfrm>
            <a:off x="11612880" y="640080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pic>
        <p:nvPicPr>
          <p:cNvPr id="164" name="Google Shape;164;p16" descr="grasp_drinking_c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325300" y="1946651"/>
            <a:ext cx="2037625" cy="16540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6" descr="grasp_pouring_c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flipH="1">
            <a:off x="7083074" y="1946652"/>
            <a:ext cx="1670365" cy="16540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6" name="Google Shape;166;p16"/>
          <p:cNvCxnSpPr/>
          <p:nvPr/>
        </p:nvCxnSpPr>
        <p:spPr>
          <a:xfrm>
            <a:off x="2394150" y="2360600"/>
            <a:ext cx="1405500" cy="54600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7" name="Google Shape;167;p16"/>
          <p:cNvCxnSpPr/>
          <p:nvPr/>
        </p:nvCxnSpPr>
        <p:spPr>
          <a:xfrm rot="10800000" flipH="1">
            <a:off x="7168250" y="2674475"/>
            <a:ext cx="917700" cy="33660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68" name="Google Shape;168;p16"/>
          <p:cNvSpPr txBox="1"/>
          <p:nvPr/>
        </p:nvSpPr>
        <p:spPr>
          <a:xfrm>
            <a:off x="2847188" y="2442001"/>
            <a:ext cx="778200" cy="5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endParaRPr sz="2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6"/>
          <p:cNvSpPr txBox="1"/>
          <p:nvPr/>
        </p:nvSpPr>
        <p:spPr>
          <a:xfrm>
            <a:off x="7377379" y="2687312"/>
            <a:ext cx="778200" cy="5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93E714F-ACD7-4583-BC6B-7FE0BB890F22}"/>
                  </a:ext>
                </a:extLst>
              </p:cNvPr>
              <p:cNvSpPr txBox="1"/>
              <p:nvPr/>
            </p:nvSpPr>
            <p:spPr>
              <a:xfrm>
                <a:off x="4060722" y="3894468"/>
                <a:ext cx="2890684" cy="23461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cup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ee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ko-KR" altLang="en-US" b="0" i="1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m:rPr>
                          <m:sty m:val="p"/>
                        </m:rP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r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ko-KR" alt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𝜔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×(</m:t>
                      </m:r>
                      <m:r>
                        <a:rPr lang="ko-KR" alt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𝜔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m:rPr>
                          <m:sty m:val="p"/>
                        </m:rP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r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93E714F-ACD7-4583-BC6B-7FE0BB890F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0722" y="3894468"/>
                <a:ext cx="2890684" cy="234616"/>
              </a:xfrm>
              <a:prstGeom prst="rect">
                <a:avLst/>
              </a:prstGeom>
              <a:blipFill>
                <a:blip r:embed="rId5"/>
                <a:stretch>
                  <a:fillRect b="-2368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화살표: 오른쪽으로 구부러짐 6">
            <a:extLst>
              <a:ext uri="{FF2B5EF4-FFF2-40B4-BE49-F238E27FC236}">
                <a16:creationId xmlns:a16="http://schemas.microsoft.com/office/drawing/2014/main" id="{D78A8ABA-92DC-6EBF-3D29-06178FFE817B}"/>
              </a:ext>
            </a:extLst>
          </p:cNvPr>
          <p:cNvSpPr/>
          <p:nvPr/>
        </p:nvSpPr>
        <p:spPr>
          <a:xfrm rot="14020566">
            <a:off x="2408600" y="2196524"/>
            <a:ext cx="279374" cy="451127"/>
          </a:xfrm>
          <a:prstGeom prst="curvedRightArrow">
            <a:avLst>
              <a:gd name="adj1" fmla="val 0"/>
              <a:gd name="adj2" fmla="val 21543"/>
              <a:gd name="adj3" fmla="val 23234"/>
            </a:avLst>
          </a:prstGeom>
          <a:solidFill>
            <a:srgbClr val="C00000"/>
          </a:solidFill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" name="화살표: 오른쪽으로 구부러짐 7">
            <a:extLst>
              <a:ext uri="{FF2B5EF4-FFF2-40B4-BE49-F238E27FC236}">
                <a16:creationId xmlns:a16="http://schemas.microsoft.com/office/drawing/2014/main" id="{8D485E19-1AEB-DEBC-3FDF-447DA1DD3349}"/>
              </a:ext>
            </a:extLst>
          </p:cNvPr>
          <p:cNvSpPr/>
          <p:nvPr/>
        </p:nvSpPr>
        <p:spPr>
          <a:xfrm rot="7226215">
            <a:off x="7030901" y="2681036"/>
            <a:ext cx="279374" cy="451127"/>
          </a:xfrm>
          <a:prstGeom prst="curvedRightArrow">
            <a:avLst>
              <a:gd name="adj1" fmla="val 0"/>
              <a:gd name="adj2" fmla="val 21543"/>
              <a:gd name="adj3" fmla="val 23234"/>
            </a:avLst>
          </a:prstGeom>
          <a:solidFill>
            <a:srgbClr val="C00000"/>
          </a:solidFill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Google Shape;168;p16">
                <a:extLst>
                  <a:ext uri="{FF2B5EF4-FFF2-40B4-BE49-F238E27FC236}">
                    <a16:creationId xmlns:a16="http://schemas.microsoft.com/office/drawing/2014/main" id="{EAC537C5-2BD3-7D40-A286-369BBE649E61}"/>
                  </a:ext>
                </a:extLst>
              </p:cNvPr>
              <p:cNvSpPr txBox="1"/>
              <p:nvPr/>
            </p:nvSpPr>
            <p:spPr>
              <a:xfrm>
                <a:off x="1338340" y="2285498"/>
                <a:ext cx="778200" cy="546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ko-KR" altLang="en-US" sz="1800" b="0" i="0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alibri"/>
                          <a:cs typeface="Calibri"/>
                          <a:sym typeface="Calibri"/>
                        </a:rPr>
                        <m:t>α</m:t>
                      </m:r>
                      <m:r>
                        <a:rPr lang="en-US" altLang="ko-KR" sz="1800" b="0" i="0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alibri"/>
                          <a:cs typeface="Calibri"/>
                          <a:sym typeface="Calibri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altLang="ko-KR" sz="1800" b="0" i="0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alibri"/>
                          <a:cs typeface="Calibri"/>
                          <a:sym typeface="Calibri"/>
                        </a:rPr>
                        <m:t>same</m:t>
                      </m:r>
                      <m:r>
                        <a:rPr lang="en-US" altLang="ko-KR" sz="1800" b="0" i="0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alibri"/>
                          <a:cs typeface="Calibri"/>
                          <a:sym typeface="Calibri"/>
                        </a:rPr>
                        <m:t>)</m:t>
                      </m:r>
                    </m:oMath>
                  </m:oMathPara>
                </a14:m>
                <a:endParaRPr sz="18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mc:Choice>
        <mc:Fallback>
          <p:sp>
            <p:nvSpPr>
              <p:cNvPr id="9" name="Google Shape;168;p16">
                <a:extLst>
                  <a:ext uri="{FF2B5EF4-FFF2-40B4-BE49-F238E27FC236}">
                    <a16:creationId xmlns:a16="http://schemas.microsoft.com/office/drawing/2014/main" id="{EAC537C5-2BD3-7D40-A286-369BBE649E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8340" y="2285498"/>
                <a:ext cx="778200" cy="546000"/>
              </a:xfrm>
              <a:prstGeom prst="rect">
                <a:avLst/>
              </a:prstGeom>
              <a:blipFill>
                <a:blip r:embed="rId6"/>
                <a:stretch>
                  <a:fillRect r="-3464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Google Shape;166;p16">
            <a:extLst>
              <a:ext uri="{FF2B5EF4-FFF2-40B4-BE49-F238E27FC236}">
                <a16:creationId xmlns:a16="http://schemas.microsoft.com/office/drawing/2014/main" id="{BCF37CEC-E0F4-5129-E7CF-07F95EC29BE3}"/>
              </a:ext>
            </a:extLst>
          </p:cNvPr>
          <p:cNvCxnSpPr>
            <a:cxnSpLocks/>
          </p:cNvCxnSpPr>
          <p:nvPr/>
        </p:nvCxnSpPr>
        <p:spPr>
          <a:xfrm flipV="1">
            <a:off x="3771506" y="1686029"/>
            <a:ext cx="695983" cy="1196971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3" name="Google Shape;166;p16">
            <a:extLst>
              <a:ext uri="{FF2B5EF4-FFF2-40B4-BE49-F238E27FC236}">
                <a16:creationId xmlns:a16="http://schemas.microsoft.com/office/drawing/2014/main" id="{16BC4E4B-19D7-5A80-54CE-12E425CCE3C9}"/>
              </a:ext>
            </a:extLst>
          </p:cNvPr>
          <p:cNvCxnSpPr>
            <a:cxnSpLocks/>
          </p:cNvCxnSpPr>
          <p:nvPr/>
        </p:nvCxnSpPr>
        <p:spPr>
          <a:xfrm flipH="1" flipV="1">
            <a:off x="7836310" y="2175931"/>
            <a:ext cx="249194" cy="487453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Google Shape;168;p16">
                <a:extLst>
                  <a:ext uri="{FF2B5EF4-FFF2-40B4-BE49-F238E27FC236}">
                    <a16:creationId xmlns:a16="http://schemas.microsoft.com/office/drawing/2014/main" id="{0404D81F-9AD5-CE5E-6A02-84197B6DB8E8}"/>
                  </a:ext>
                </a:extLst>
              </p:cNvPr>
              <p:cNvSpPr txBox="1"/>
              <p:nvPr/>
            </p:nvSpPr>
            <p:spPr>
              <a:xfrm>
                <a:off x="6111661" y="2842734"/>
                <a:ext cx="778200" cy="546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ko-KR" altLang="en-US" sz="1800" b="0" i="0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alibri"/>
                          <a:cs typeface="Calibri"/>
                          <a:sym typeface="Calibri"/>
                        </a:rPr>
                        <m:t>α</m:t>
                      </m:r>
                      <m:r>
                        <a:rPr lang="en-US" altLang="ko-KR" sz="1800" b="0" i="0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alibri"/>
                          <a:cs typeface="Calibri"/>
                          <a:sym typeface="Calibri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altLang="ko-KR" sz="1800" b="0" i="0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alibri"/>
                          <a:cs typeface="Calibri"/>
                          <a:sym typeface="Calibri"/>
                        </a:rPr>
                        <m:t>same</m:t>
                      </m:r>
                      <m:r>
                        <a:rPr lang="en-US" altLang="ko-KR" sz="1800" b="0" i="0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alibri"/>
                          <a:cs typeface="Calibri"/>
                          <a:sym typeface="Calibri"/>
                        </a:rPr>
                        <m:t>)</m:t>
                      </m:r>
                    </m:oMath>
                  </m:oMathPara>
                </a14:m>
                <a:endParaRPr sz="18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mc:Choice>
        <mc:Fallback>
          <p:sp>
            <p:nvSpPr>
              <p:cNvPr id="17" name="Google Shape;168;p16">
                <a:extLst>
                  <a:ext uri="{FF2B5EF4-FFF2-40B4-BE49-F238E27FC236}">
                    <a16:creationId xmlns:a16="http://schemas.microsoft.com/office/drawing/2014/main" id="{0404D81F-9AD5-CE5E-6A02-84197B6DB8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1661" y="2842734"/>
                <a:ext cx="778200" cy="546000"/>
              </a:xfrm>
              <a:prstGeom prst="rect">
                <a:avLst/>
              </a:prstGeom>
              <a:blipFill>
                <a:blip r:embed="rId7"/>
                <a:stretch>
                  <a:fillRect r="-3464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D4D9A245-7623-83CB-4EBA-B524EAE228F8}"/>
                  </a:ext>
                </a:extLst>
              </p:cNvPr>
              <p:cNvSpPr txBox="1"/>
              <p:nvPr/>
            </p:nvSpPr>
            <p:spPr>
              <a:xfrm>
                <a:off x="1282105" y="1379225"/>
                <a:ext cx="6484374" cy="3604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ko-KR" altLang="en-US" sz="1600" b="0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libri"/>
                              <a:cs typeface="Calibri"/>
                              <a:sym typeface="Calibri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1600" b="0" i="0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libri"/>
                              <a:cs typeface="Calibri"/>
                              <a:sym typeface="Calibri"/>
                            </a:rPr>
                            <m:t>a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sz="1600" b="0" i="0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libri"/>
                              <a:cs typeface="Calibri"/>
                              <a:sym typeface="Calibri"/>
                            </a:rPr>
                            <m:t>cup</m:t>
                          </m:r>
                        </m:sub>
                      </m:sSub>
                    </m:oMath>
                  </m:oMathPara>
                </a14:m>
                <a:endParaRPr lang="ko-KR" altLang="en-US" sz="1600" dirty="0"/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D4D9A245-7623-83CB-4EBA-B524EAE228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2105" y="1379225"/>
                <a:ext cx="6484374" cy="360483"/>
              </a:xfrm>
              <a:prstGeom prst="rect">
                <a:avLst/>
              </a:prstGeom>
              <a:blipFill>
                <a:blip r:embed="rId8"/>
                <a:stretch>
                  <a:fillRect b="-339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7C8B6685-79C6-0DD4-3768-D0D4A227F848}"/>
                  </a:ext>
                </a:extLst>
              </p:cNvPr>
              <p:cNvSpPr txBox="1"/>
              <p:nvPr/>
            </p:nvSpPr>
            <p:spPr>
              <a:xfrm>
                <a:off x="4571685" y="1828696"/>
                <a:ext cx="6484374" cy="3604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ko-KR" altLang="en-US" sz="1600" b="0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libri"/>
                              <a:cs typeface="Calibri"/>
                              <a:sym typeface="Calibri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1600" b="0" i="0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libri"/>
                              <a:cs typeface="Calibri"/>
                              <a:sym typeface="Calibri"/>
                            </a:rPr>
                            <m:t>a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sz="1600" b="0" i="0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libri"/>
                              <a:cs typeface="Calibri"/>
                              <a:sym typeface="Calibri"/>
                            </a:rPr>
                            <m:t>cup</m:t>
                          </m:r>
                        </m:sub>
                      </m:sSub>
                    </m:oMath>
                  </m:oMathPara>
                </a14:m>
                <a:endParaRPr lang="ko-KR" altLang="en-US" sz="1600" dirty="0"/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7C8B6685-79C6-0DD4-3768-D0D4A227F8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1685" y="1828696"/>
                <a:ext cx="6484374" cy="360483"/>
              </a:xfrm>
              <a:prstGeom prst="rect">
                <a:avLst/>
              </a:prstGeom>
              <a:blipFill>
                <a:blip r:embed="rId9"/>
                <a:stretch>
                  <a:fillRect b="-169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Google Shape;166;p16">
            <a:extLst>
              <a:ext uri="{FF2B5EF4-FFF2-40B4-BE49-F238E27FC236}">
                <a16:creationId xmlns:a16="http://schemas.microsoft.com/office/drawing/2014/main" id="{830ABA29-238F-F40F-0650-1F55BBE6B4BA}"/>
              </a:ext>
            </a:extLst>
          </p:cNvPr>
          <p:cNvCxnSpPr>
            <a:cxnSpLocks/>
          </p:cNvCxnSpPr>
          <p:nvPr/>
        </p:nvCxnSpPr>
        <p:spPr>
          <a:xfrm flipV="1">
            <a:off x="2387645" y="1791021"/>
            <a:ext cx="6505" cy="579859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3" name="Google Shape;166;p16">
            <a:extLst>
              <a:ext uri="{FF2B5EF4-FFF2-40B4-BE49-F238E27FC236}">
                <a16:creationId xmlns:a16="http://schemas.microsoft.com/office/drawing/2014/main" id="{230D8F0D-3D07-5152-712C-56A5DFC15C19}"/>
              </a:ext>
            </a:extLst>
          </p:cNvPr>
          <p:cNvCxnSpPr>
            <a:cxnSpLocks/>
          </p:cNvCxnSpPr>
          <p:nvPr/>
        </p:nvCxnSpPr>
        <p:spPr>
          <a:xfrm flipV="1">
            <a:off x="7180913" y="2487451"/>
            <a:ext cx="3253" cy="523624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224BD243-556E-84C3-827A-9C89334E4741}"/>
                  </a:ext>
                </a:extLst>
              </p:cNvPr>
              <p:cNvSpPr txBox="1"/>
              <p:nvPr/>
            </p:nvSpPr>
            <p:spPr>
              <a:xfrm>
                <a:off x="-848037" y="1482451"/>
                <a:ext cx="6484374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ko-KR" altLang="en-US" sz="1600" b="0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libri"/>
                              <a:cs typeface="Calibri"/>
                              <a:sym typeface="Calibri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1600" b="0" i="0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libri"/>
                              <a:cs typeface="Calibri"/>
                              <a:sym typeface="Calibri"/>
                            </a:rPr>
                            <m:t>a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sz="1600" b="0" i="0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libri"/>
                              <a:cs typeface="Calibri"/>
                              <a:sym typeface="Calibri"/>
                            </a:rPr>
                            <m:t>ee</m:t>
                          </m:r>
                        </m:sub>
                      </m:sSub>
                    </m:oMath>
                  </m:oMathPara>
                </a14:m>
                <a:endParaRPr lang="ko-KR" altLang="en-US" sz="1600" dirty="0"/>
              </a:p>
            </p:txBody>
          </p:sp>
        </mc:Choice>
        <mc:Fallback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224BD243-556E-84C3-827A-9C89334E47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848037" y="1482451"/>
                <a:ext cx="6484374" cy="33855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9819173A-73AB-8BE0-F033-CFF8DCF221F8}"/>
                  </a:ext>
                </a:extLst>
              </p:cNvPr>
              <p:cNvSpPr txBox="1"/>
              <p:nvPr/>
            </p:nvSpPr>
            <p:spPr>
              <a:xfrm>
                <a:off x="3945768" y="2165873"/>
                <a:ext cx="6484374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ko-KR" altLang="en-US" sz="1600" b="0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libri"/>
                              <a:cs typeface="Calibri"/>
                              <a:sym typeface="Calibri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1600" b="0" i="0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libri"/>
                              <a:cs typeface="Calibri"/>
                              <a:sym typeface="Calibri"/>
                            </a:rPr>
                            <m:t>a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sz="1600" b="0" i="0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libri"/>
                              <a:cs typeface="Calibri"/>
                              <a:sym typeface="Calibri"/>
                            </a:rPr>
                            <m:t>ee</m:t>
                          </m:r>
                        </m:sub>
                      </m:sSub>
                    </m:oMath>
                  </m:oMathPara>
                </a14:m>
                <a:endParaRPr lang="ko-KR" altLang="en-US" sz="1600" dirty="0"/>
              </a:p>
            </p:txBody>
          </p:sp>
        </mc:Choice>
        <mc:Fallback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9819173A-73AB-8BE0-F033-CFF8DCF221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5768" y="2165873"/>
                <a:ext cx="6484374" cy="338554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7"/>
          <p:cNvSpPr txBox="1"/>
          <p:nvPr/>
        </p:nvSpPr>
        <p:spPr>
          <a:xfrm>
            <a:off x="502920" y="274320"/>
            <a:ext cx="1115568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A365D"/>
                </a:solidFill>
                <a:latin typeface="Arial"/>
                <a:ea typeface="Arial"/>
                <a:cs typeface="Arial"/>
                <a:sym typeface="Arial"/>
              </a:rPr>
              <a:t>Related work &amp; the gap</a:t>
            </a:r>
            <a:endParaRPr/>
          </a:p>
        </p:txBody>
      </p:sp>
      <p:sp>
        <p:nvSpPr>
          <p:cNvPr id="175" name="Google Shape;175;p17"/>
          <p:cNvSpPr/>
          <p:nvPr/>
        </p:nvSpPr>
        <p:spPr>
          <a:xfrm>
            <a:off x="548640" y="1115568"/>
            <a:ext cx="11064240" cy="27940"/>
          </a:xfrm>
          <a:prstGeom prst="rect">
            <a:avLst/>
          </a:prstGeom>
          <a:solidFill>
            <a:srgbClr val="CCCCCC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7"/>
          <p:cNvSpPr txBox="1"/>
          <p:nvPr/>
        </p:nvSpPr>
        <p:spPr>
          <a:xfrm>
            <a:off x="609443" y="5419195"/>
            <a:ext cx="10972800" cy="6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u="none" strike="noStrike" cap="none" dirty="0">
                <a:solidFill>
                  <a:srgbClr val="A93226"/>
                </a:solidFill>
                <a:latin typeface="Arial"/>
                <a:ea typeface="Arial"/>
                <a:cs typeface="Arial"/>
                <a:sym typeface="Arial"/>
              </a:rPr>
              <a:t>Nobody connects grasp choice to a physical spill margin. </a:t>
            </a:r>
            <a:r>
              <a:rPr lang="en-US" sz="1600" b="0" i="0" u="none" strike="noStrike" cap="none" dirty="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We make the trajectory optimizer </a:t>
            </a:r>
            <a:r>
              <a:rPr lang="en-US" sz="1600" b="1" i="0" u="none" strike="noStrike" cap="none" dirty="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score grasps</a:t>
            </a:r>
            <a:r>
              <a:rPr lang="en-US" sz="1600" b="0" i="0" u="none" strike="noStrike" cap="none" dirty="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 by how safely they carry.</a:t>
            </a:r>
            <a:endParaRPr dirty="0"/>
          </a:p>
        </p:txBody>
      </p:sp>
      <p:sp>
        <p:nvSpPr>
          <p:cNvPr id="178" name="Google Shape;178;p17"/>
          <p:cNvSpPr txBox="1"/>
          <p:nvPr/>
        </p:nvSpPr>
        <p:spPr>
          <a:xfrm>
            <a:off x="11612880" y="640080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8F82190-8752-57A4-AC2C-F39F24B677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780" y="1809231"/>
            <a:ext cx="10906125" cy="2943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8"/>
          <p:cNvSpPr txBox="1"/>
          <p:nvPr/>
        </p:nvSpPr>
        <p:spPr>
          <a:xfrm>
            <a:off x="502920" y="274320"/>
            <a:ext cx="1115568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A365D"/>
                </a:solidFill>
                <a:latin typeface="Arial"/>
                <a:ea typeface="Arial"/>
                <a:cs typeface="Arial"/>
                <a:sym typeface="Arial"/>
              </a:rPr>
              <a:t>Method — spill-aware CHOMP</a:t>
            </a:r>
            <a:endParaRPr/>
          </a:p>
        </p:txBody>
      </p:sp>
      <p:sp>
        <p:nvSpPr>
          <p:cNvPr id="184" name="Google Shape;184;p18"/>
          <p:cNvSpPr/>
          <p:nvPr/>
        </p:nvSpPr>
        <p:spPr>
          <a:xfrm>
            <a:off x="548640" y="1115568"/>
            <a:ext cx="11064240" cy="27940"/>
          </a:xfrm>
          <a:prstGeom prst="rect">
            <a:avLst/>
          </a:prstGeom>
          <a:solidFill>
            <a:srgbClr val="CCCCCC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6" name="Google Shape;186;p18"/>
              <p:cNvSpPr txBox="1"/>
              <p:nvPr/>
            </p:nvSpPr>
            <p:spPr>
              <a:xfrm>
                <a:off x="417379" y="1592141"/>
                <a:ext cx="10972800" cy="78421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algn="ctr">
                  <a:lnSpc>
                    <a:spcPct val="105000"/>
                  </a:lnSpc>
                </a:pPr>
                <a14:m>
                  <m:oMath xmlns:m="http://schemas.openxmlformats.org/officeDocument/2006/math">
                    <m:r>
                      <a:rPr lang="en-US" sz="2000" b="1" i="1" u="none" strike="noStrike" cap="none" smtClean="0">
                        <a:solidFill>
                          <a:srgbClr val="1A365D"/>
                        </a:solidFill>
                        <a:latin typeface="Cambria Math" panose="02040503050406030204" pitchFamily="18" charset="0"/>
                        <a:sym typeface="Arial"/>
                      </a:rPr>
                      <m:t>𝑱</m:t>
                    </m:r>
                    <m:r>
                      <a:rPr lang="en-US" sz="2000" b="1" i="1" u="none" strike="noStrike" cap="none" smtClean="0">
                        <a:solidFill>
                          <a:srgbClr val="1A365D"/>
                        </a:solidFill>
                        <a:latin typeface="Cambria Math" panose="02040503050406030204" pitchFamily="18" charset="0"/>
                        <a:sym typeface="Arial"/>
                      </a:rPr>
                      <m:t>(</m:t>
                    </m:r>
                    <m:r>
                      <a:rPr lang="en-US" sz="2000" b="1" i="1" u="none" strike="noStrike" cap="none" smtClean="0">
                        <a:solidFill>
                          <a:srgbClr val="1A365D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Arial"/>
                      </a:rPr>
                      <m:t>𝝃</m:t>
                    </m:r>
                    <m:r>
                      <a:rPr lang="en-US" sz="2000" b="1" i="1" u="none" strike="noStrike" cap="none" smtClean="0">
                        <a:solidFill>
                          <a:srgbClr val="1A365D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Arial"/>
                      </a:rPr>
                      <m:t>)=</m:t>
                    </m:r>
                    <m:sSub>
                      <m:sSubPr>
                        <m:ctrlPr>
                          <a:rPr lang="en-US" altLang="ko-KR" sz="2000" b="1" i="1" u="none" strike="noStrike" cap="none" smtClean="0">
                            <a:solidFill>
                              <a:srgbClr val="1A365D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Arial"/>
                          </a:rPr>
                        </m:ctrlPr>
                      </m:sSubPr>
                      <m:e>
                        <m:r>
                          <a:rPr lang="en-US" altLang="ko-KR" sz="2000" b="1" i="1" u="none" strike="noStrike" cap="none" smtClean="0">
                            <a:solidFill>
                              <a:srgbClr val="1A365D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Arial"/>
                          </a:rPr>
                          <m:t>𝑱</m:t>
                        </m:r>
                      </m:e>
                      <m:sub>
                        <m:r>
                          <a:rPr lang="en-US" altLang="ko-KR" sz="2000" b="1" i="1" u="none" strike="noStrike" cap="none" smtClean="0">
                            <a:solidFill>
                              <a:srgbClr val="1A365D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Arial"/>
                          </a:rPr>
                          <m:t>𝒔𝒎𝒐𝒐𝒕𝒉</m:t>
                        </m:r>
                      </m:sub>
                    </m:sSub>
                    <m:r>
                      <a:rPr lang="en-US" altLang="ko-KR" sz="2000" b="1" i="1" u="none" strike="noStrike" cap="none" smtClean="0">
                        <a:solidFill>
                          <a:srgbClr val="1A365D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Arial"/>
                      </a:rPr>
                      <m:t>+</m:t>
                    </m:r>
                    <m:sSub>
                      <m:sSubPr>
                        <m:ctrlPr>
                          <a:rPr lang="en-US" altLang="ko-KR" sz="2000" b="1" i="1" u="none" strike="noStrike" cap="none" smtClean="0">
                            <a:solidFill>
                              <a:srgbClr val="1A365D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Arial"/>
                          </a:rPr>
                        </m:ctrlPr>
                      </m:sSubPr>
                      <m:e>
                        <m:r>
                          <a:rPr lang="en-US" altLang="ko-KR" sz="2000" b="1" i="1" u="none" strike="noStrike" cap="none" smtClean="0">
                            <a:solidFill>
                              <a:srgbClr val="1A365D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Arial"/>
                          </a:rPr>
                          <m:t>𝑱</m:t>
                        </m:r>
                      </m:e>
                      <m:sub>
                        <m:r>
                          <a:rPr lang="en-US" altLang="ko-KR" sz="2000" b="1" i="1" u="none" strike="noStrike" cap="none" smtClean="0">
                            <a:solidFill>
                              <a:srgbClr val="1A365D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Arial"/>
                          </a:rPr>
                          <m:t>𝒐𝒃𝒔</m:t>
                        </m:r>
                      </m:sub>
                    </m:sSub>
                    <m:r>
                      <a:rPr lang="en-US" altLang="ko-KR" sz="2000" b="1" i="1" u="none" strike="noStrike" cap="none" smtClean="0">
                        <a:solidFill>
                          <a:srgbClr val="1A365D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Arial"/>
                      </a:rPr>
                      <m:t>+</m:t>
                    </m:r>
                    <m:sSub>
                      <m:sSubPr>
                        <m:ctrlPr>
                          <a:rPr lang="en-US" altLang="ko-KR" sz="2000" b="1" i="1" u="none" strike="noStrike" cap="none" smtClean="0">
                            <a:solidFill>
                              <a:srgbClr val="1A365D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Arial"/>
                          </a:rPr>
                        </m:ctrlPr>
                      </m:sSubPr>
                      <m:e>
                        <m:r>
                          <a:rPr lang="ko-KR" altLang="en-US" sz="2000" b="1" i="1" u="none" strike="noStrike" cap="none" smtClean="0">
                            <a:solidFill>
                              <a:srgbClr val="1A365D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Arial"/>
                          </a:rPr>
                          <m:t>𝝀</m:t>
                        </m:r>
                      </m:e>
                      <m:sub>
                        <m:r>
                          <a:rPr lang="en-US" altLang="ko-KR" sz="2000" b="1" i="1" u="none" strike="noStrike" cap="none" smtClean="0">
                            <a:solidFill>
                              <a:srgbClr val="1A365D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Arial"/>
                          </a:rPr>
                          <m:t>𝒔</m:t>
                        </m:r>
                      </m:sub>
                    </m:sSub>
                    <m:sSub>
                      <m:sSubPr>
                        <m:ctrlPr>
                          <a:rPr lang="en-US" altLang="ko-KR" sz="2000" b="1" i="1" u="none" strike="noStrike" cap="none" smtClean="0">
                            <a:solidFill>
                              <a:srgbClr val="1A365D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Arial"/>
                          </a:rPr>
                        </m:ctrlPr>
                      </m:sSubPr>
                      <m:e>
                        <m:r>
                          <a:rPr lang="en-US" altLang="ko-KR" sz="2000" b="1" i="1" u="none" strike="noStrike" cap="none" smtClean="0">
                            <a:solidFill>
                              <a:srgbClr val="1A365D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Arial"/>
                          </a:rPr>
                          <m:t>𝑱</m:t>
                        </m:r>
                      </m:e>
                      <m:sub>
                        <m:r>
                          <a:rPr lang="en-US" altLang="ko-KR" sz="2000" b="1" i="1" u="none" strike="noStrike" cap="none" smtClean="0">
                            <a:solidFill>
                              <a:srgbClr val="1A365D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Arial"/>
                          </a:rPr>
                          <m:t>𝒔𝒑𝒊𝒍𝒍</m:t>
                        </m:r>
                      </m:sub>
                    </m:sSub>
                  </m:oMath>
                </a14:m>
                <a:r>
                  <a:rPr lang="en-US" sz="1800" b="1" i="0" u="none" strike="noStrike" cap="none" dirty="0">
                    <a:solidFill>
                      <a:srgbClr val="2C3E50"/>
                    </a:solidFill>
                    <a:sym typeface="Arial"/>
                  </a:rPr>
                  <a:t>       </a:t>
                </a:r>
                <a:r>
                  <a:rPr lang="el-GR" altLang="ko-KR" sz="1800" b="1" dirty="0">
                    <a:solidFill>
                      <a:srgbClr val="2C3E50"/>
                    </a:solidFill>
                  </a:rPr>
                  <a:t>ξ ← ξ − η A⁻¹ ∇J(ξ)</a:t>
                </a:r>
                <a:endParaRPr lang="en-US" sz="1800" b="1" i="0" u="none" strike="noStrike" cap="none" dirty="0">
                  <a:solidFill>
                    <a:srgbClr val="2C3E50"/>
                  </a:solidFill>
                  <a:sym typeface="Arial"/>
                </a:endParaRPr>
              </a:p>
              <a:p>
                <a:pPr lvl="0" algn="ctr">
                  <a:lnSpc>
                    <a:spcPct val="105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0" b="1" i="1" dirty="0">
                            <a:solidFill>
                              <a:srgbClr val="2C3E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0" b="1" i="1" dirty="0">
                            <a:solidFill>
                              <a:srgbClr val="2C3E50"/>
                            </a:solidFill>
                            <a:latin typeface="Cambria Math" panose="02040503050406030204" pitchFamily="18" charset="0"/>
                          </a:rPr>
                          <m:t>𝑱</m:t>
                        </m:r>
                      </m:e>
                      <m:sub>
                        <m:r>
                          <a:rPr lang="en-US" altLang="ko-KR" sz="1800" b="1" i="1" dirty="0">
                            <a:solidFill>
                              <a:srgbClr val="2C3E50"/>
                            </a:solidFill>
                            <a:latin typeface="Cambria Math" panose="02040503050406030204" pitchFamily="18" charset="0"/>
                          </a:rPr>
                          <m:t>𝒔𝒑𝒊𝒍𝒍</m:t>
                        </m:r>
                      </m:sub>
                    </m:sSub>
                    <m:r>
                      <a:rPr lang="en-US" altLang="ko-KR" sz="1800" b="1" i="1" dirty="0">
                        <a:solidFill>
                          <a:srgbClr val="2C3E50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altLang="ko-KR" sz="1800" b="1" i="1" dirty="0">
                            <a:solidFill>
                              <a:srgbClr val="2C3E5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ko-KR" sz="1800" b="1" i="1" dirty="0">
                            <a:solidFill>
                              <a:srgbClr val="2C3E50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  <m:sup/>
                      <m:e>
                        <m:sSup>
                          <m:sSupPr>
                            <m:ctrlPr>
                              <a:rPr lang="en-US" altLang="ko-KR" sz="1800" b="1" i="1" dirty="0">
                                <a:solidFill>
                                  <a:srgbClr val="2C3E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800" b="1" i="1" dirty="0">
                                <a:solidFill>
                                  <a:srgbClr val="2C3E50"/>
                                </a:solidFill>
                                <a:latin typeface="Cambria Math" panose="02040503050406030204" pitchFamily="18" charset="0"/>
                              </a:rPr>
                              <m:t>𝒎𝒂𝒙</m:t>
                            </m:r>
                            <m:r>
                              <a:rPr lang="en-US" altLang="ko-KR" sz="1800" b="1" i="1" dirty="0">
                                <a:solidFill>
                                  <a:srgbClr val="2C3E5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ko-KR" sz="1800" b="1" i="1" dirty="0">
                                <a:solidFill>
                                  <a:srgbClr val="2C3E50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  <m:r>
                              <a:rPr lang="en-US" altLang="ko-KR" sz="1800" b="1" i="1" dirty="0">
                                <a:solidFill>
                                  <a:srgbClr val="2C3E5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ko-KR" sz="1800" b="1" i="1" dirty="0">
                                <a:solidFill>
                                  <a:srgbClr val="2C3E50"/>
                                </a:solidFill>
                                <a:latin typeface="Cambria Math" panose="02040503050406030204" pitchFamily="18" charset="0"/>
                              </a:rPr>
                              <m:t>𝒄𝒐𝒔</m:t>
                            </m:r>
                            <m:sSub>
                              <m:sSubPr>
                                <m:ctrlPr>
                                  <a:rPr lang="en-US" altLang="ko-KR" sz="1800" b="1" i="1" dirty="0">
                                    <a:solidFill>
                                      <a:srgbClr val="2C3E5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ko-KR" altLang="en-US" sz="1800" b="1" i="1" dirty="0">
                                    <a:solidFill>
                                      <a:srgbClr val="2C3E50"/>
                                    </a:solidFill>
                                    <a:latin typeface="Cambria Math" panose="02040503050406030204" pitchFamily="18" charset="0"/>
                                  </a:rPr>
                                  <m:t>𝜽</m:t>
                                </m:r>
                              </m:e>
                              <m:sub>
                                <m:r>
                                  <a:rPr lang="en-US" altLang="ko-KR" sz="1800" b="1" i="1" dirty="0">
                                    <a:solidFill>
                                      <a:srgbClr val="2C3E50"/>
                                    </a:solidFill>
                                    <a:latin typeface="Cambria Math" panose="02040503050406030204" pitchFamily="18" charset="0"/>
                                  </a:rPr>
                                  <m:t>𝒎𝒂𝒙</m:t>
                                </m:r>
                              </m:sub>
                            </m:sSub>
                            <m:r>
                              <a:rPr lang="en-US" altLang="ko-KR" sz="1800" b="1" i="1" dirty="0">
                                <a:solidFill>
                                  <a:srgbClr val="2C3E5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ko-KR" sz="1800" b="1" i="1" dirty="0">
                                <a:solidFill>
                                  <a:srgbClr val="2C3E50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  <m:r>
                              <a:rPr lang="en-US" altLang="ko-KR" sz="1800" b="1" i="1" dirty="0">
                                <a:solidFill>
                                  <a:srgbClr val="2C3E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∙</m:t>
                            </m:r>
                            <m:acc>
                              <m:accPr>
                                <m:chr m:val="̂"/>
                                <m:ctrlPr>
                                  <a:rPr lang="en-US" altLang="ko-KR" sz="1800" b="1" i="1" dirty="0">
                                    <a:solidFill>
                                      <a:srgbClr val="2C3E5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ko-KR" sz="1800" b="1" i="1" dirty="0">
                                    <a:solidFill>
                                      <a:srgbClr val="2C3E5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𝒖</m:t>
                                </m:r>
                              </m:e>
                            </m:acc>
                            <m:r>
                              <a:rPr lang="en-US" altLang="ko-KR" sz="1800" b="1" i="1" dirty="0">
                                <a:solidFill>
                                  <a:srgbClr val="2C3E5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ko-KR" sz="1800" b="1" i="1" dirty="0">
                                <a:solidFill>
                                  <a:srgbClr val="2C3E5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e>
                    </m:nary>
                  </m:oMath>
                </a14:m>
                <a:r>
                  <a:rPr lang="en-US" b="1" dirty="0"/>
                  <a:t>      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ko-KR" b="1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b="1" i="1" dirty="0" smtClean="0"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</m:acc>
                    <m:r>
                      <a:rPr lang="en-US" altLang="ko-KR" b="1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b="1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1" i="1" dirty="0" smtClean="0">
                            <a:latin typeface="Cambria Math" panose="02040503050406030204" pitchFamily="18" charset="0"/>
                          </a:rPr>
                          <m:t>𝒂</m:t>
                        </m:r>
                        <m:r>
                          <a:rPr lang="en-US" altLang="ko-KR" b="1" i="1" dirty="0" smtClean="0">
                            <a:latin typeface="Cambria Math" panose="02040503050406030204" pitchFamily="18" charset="0"/>
                          </a:rPr>
                          <m:t>-</m:t>
                        </m:r>
                        <m:r>
                          <a:rPr lang="en-US" altLang="ko-KR" b="1" i="1" dirty="0" smtClean="0">
                            <a:latin typeface="Cambria Math" panose="02040503050406030204" pitchFamily="18" charset="0"/>
                          </a:rPr>
                          <m:t>𝒈</m:t>
                        </m:r>
                      </m:num>
                      <m:den>
                        <m:d>
                          <m:dPr>
                            <m:begChr m:val="‖"/>
                            <m:endChr m:val="‖"/>
                            <m:ctrlPr>
                              <a:rPr lang="en-US" altLang="ko-KR" b="1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b="1" i="1" dirty="0" smtClean="0">
                                <a:latin typeface="Cambria Math" panose="02040503050406030204" pitchFamily="18" charset="0"/>
                              </a:rPr>
                              <m:t>𝒂</m:t>
                            </m:r>
                            <m:r>
                              <a:rPr lang="en-US" altLang="ko-KR" b="1" i="1" dirty="0" smtClean="0">
                                <a:latin typeface="Cambria Math" panose="02040503050406030204" pitchFamily="18" charset="0"/>
                              </a:rPr>
                              <m:t>-</m:t>
                            </m:r>
                            <m:r>
                              <a:rPr lang="en-US" altLang="ko-KR" b="1" i="1" dirty="0" smtClean="0">
                                <a:latin typeface="Cambria Math" panose="02040503050406030204" pitchFamily="18" charset="0"/>
                              </a:rPr>
                              <m:t>𝒈</m:t>
                            </m:r>
                          </m:e>
                        </m:d>
                      </m:den>
                    </m:f>
                  </m:oMath>
                </a14:m>
                <a:endParaRPr b="1" dirty="0"/>
              </a:p>
            </p:txBody>
          </p:sp>
        </mc:Choice>
        <mc:Fallback>
          <p:sp>
            <p:nvSpPr>
              <p:cNvPr id="186" name="Google Shape;186;p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379" y="1592141"/>
                <a:ext cx="10972800" cy="784213"/>
              </a:xfrm>
              <a:prstGeom prst="rect">
                <a:avLst/>
              </a:prstGeom>
              <a:blipFill>
                <a:blip r:embed="rId3"/>
                <a:stretch>
                  <a:fillRect t="-10853" b="-7984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8" name="Google Shape;188;p18"/>
          <p:cNvSpPr txBox="1"/>
          <p:nvPr/>
        </p:nvSpPr>
        <p:spPr>
          <a:xfrm>
            <a:off x="11612880" y="640080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1E276B87-F1FB-D9D6-F58B-07D1FA7916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20" y="2738572"/>
            <a:ext cx="11296650" cy="3486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3F52589D-E764-3603-EA41-F2301251822E}"/>
              </a:ext>
            </a:extLst>
          </p:cNvPr>
          <p:cNvSpPr/>
          <p:nvPr/>
        </p:nvSpPr>
        <p:spPr>
          <a:xfrm>
            <a:off x="7315200" y="2738064"/>
            <a:ext cx="3362632" cy="437247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Achievable margin to spill cone (score)</a:t>
            </a:r>
            <a:endParaRPr lang="ko-KR" alt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0"/>
          <p:cNvSpPr txBox="1"/>
          <p:nvPr/>
        </p:nvSpPr>
        <p:spPr>
          <a:xfrm>
            <a:off x="502920" y="274320"/>
            <a:ext cx="1115568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A365D"/>
                </a:solidFill>
                <a:latin typeface="Arial"/>
                <a:ea typeface="Arial"/>
                <a:cs typeface="Arial"/>
                <a:sym typeface="Arial"/>
              </a:rPr>
              <a:t>Evaluation &amp; plan</a:t>
            </a:r>
            <a:endParaRPr/>
          </a:p>
        </p:txBody>
      </p:sp>
      <p:sp>
        <p:nvSpPr>
          <p:cNvPr id="203" name="Google Shape;203;p20"/>
          <p:cNvSpPr/>
          <p:nvPr/>
        </p:nvSpPr>
        <p:spPr>
          <a:xfrm>
            <a:off x="548640" y="1115568"/>
            <a:ext cx="11064240" cy="27940"/>
          </a:xfrm>
          <a:prstGeom prst="rect">
            <a:avLst/>
          </a:prstGeom>
          <a:solidFill>
            <a:srgbClr val="CCCCCC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4" name="Google Shape;204;p20" descr="ablation_plan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24680" y="1371600"/>
            <a:ext cx="8342334" cy="27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20"/>
          <p:cNvSpPr txBox="1"/>
          <p:nvPr/>
        </p:nvSpPr>
        <p:spPr>
          <a:xfrm>
            <a:off x="640080" y="4224528"/>
            <a:ext cx="11064240" cy="1920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 b="1" i="0" u="none" strike="noStrike" cap="none" dirty="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• 3-way ablation: </a:t>
            </a:r>
            <a:r>
              <a:rPr lang="en-US" sz="1450" b="0" i="0" u="none" strike="noStrike" cap="none" dirty="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linear </a:t>
            </a:r>
            <a:r>
              <a:rPr lang="en-US" sz="1450" b="0" i="0" u="none" strike="noStrike" cap="none" dirty="0" err="1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interp</a:t>
            </a:r>
            <a:r>
              <a:rPr lang="en-US" sz="1450" b="0" i="0" u="none" strike="noStrike" cap="none" dirty="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 / CHOMP / CHOMP + spill — on a mug, with and without obstacles.</a:t>
            </a:r>
            <a:endParaRPr dirty="0"/>
          </a:p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 b="1" i="0" u="none" strike="noStrike" cap="none" dirty="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• Metrics: </a:t>
            </a:r>
            <a:r>
              <a:rPr lang="en-US" sz="1450" b="0" i="0" u="none" strike="noStrike" cap="none" dirty="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spill ratio, path length, smoothness (jerk), plan time; run across grasps to show the margin differs.</a:t>
            </a:r>
            <a:endParaRPr dirty="0"/>
          </a:p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 b="1" i="0" u="none" strike="noStrike" cap="none" dirty="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• Demo: </a:t>
            </a:r>
            <a:r>
              <a:rPr lang="en-US" sz="1450" b="0" i="0" u="none" strike="noStrike" cap="none" dirty="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SAPIEN particles on the liquid surface → count how many cross the rim.</a:t>
            </a:r>
            <a:endParaRPr dirty="0"/>
          </a:p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 b="1" i="0" u="none" strike="noStrike" cap="none" dirty="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• Timeline: </a:t>
            </a:r>
            <a:r>
              <a:rPr lang="en-US" sz="1450" b="0" i="0" u="none" strike="noStrike" cap="none" dirty="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implementation + ablation within ~1 week  (proposal 06-08 → report 06-15).</a:t>
            </a:r>
            <a:endParaRPr dirty="0"/>
          </a:p>
        </p:txBody>
      </p:sp>
      <p:sp>
        <p:nvSpPr>
          <p:cNvPr id="206" name="Google Shape;206;p20"/>
          <p:cNvSpPr txBox="1"/>
          <p:nvPr/>
        </p:nvSpPr>
        <p:spPr>
          <a:xfrm>
            <a:off x="11612880" y="640080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820</TotalTime>
  <Words>390</Words>
  <Application>Microsoft Office PowerPoint</Application>
  <PresentationFormat>와이드스크린</PresentationFormat>
  <Paragraphs>58</Paragraphs>
  <Slides>7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1" baseType="lpstr">
      <vt:lpstr>Arial</vt:lpstr>
      <vt:lpstr>Calibri</vt:lpstr>
      <vt:lpstr>Cambria Math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윤지훈</dc:creator>
  <cp:lastModifiedBy>윤지훈</cp:lastModifiedBy>
  <cp:revision>2</cp:revision>
  <dcterms:modified xsi:type="dcterms:W3CDTF">2026-06-07T23:46:47Z</dcterms:modified>
</cp:coreProperties>
</file>